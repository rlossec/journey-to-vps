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4627" r:id="rId1"/>
  </p:sldMasterIdLst>
  <p:notesMasterIdLst>
    <p:notesMasterId r:id="rId53"/>
  </p:notesMasterIdLst>
  <p:sldIdLst>
    <p:sldId id="288" r:id="rId2"/>
    <p:sldId id="290" r:id="rId3"/>
    <p:sldId id="292" r:id="rId4"/>
    <p:sldId id="341" r:id="rId5"/>
    <p:sldId id="289" r:id="rId6"/>
    <p:sldId id="327" r:id="rId7"/>
    <p:sldId id="297" r:id="rId8"/>
    <p:sldId id="340" r:id="rId9"/>
    <p:sldId id="302" r:id="rId10"/>
    <p:sldId id="303" r:id="rId11"/>
    <p:sldId id="320" r:id="rId12"/>
    <p:sldId id="344" r:id="rId13"/>
    <p:sldId id="298" r:id="rId14"/>
    <p:sldId id="323" r:id="rId15"/>
    <p:sldId id="304" r:id="rId16"/>
    <p:sldId id="321" r:id="rId17"/>
    <p:sldId id="306" r:id="rId18"/>
    <p:sldId id="299" r:id="rId19"/>
    <p:sldId id="342" r:id="rId20"/>
    <p:sldId id="269" r:id="rId21"/>
    <p:sldId id="349" r:id="rId22"/>
    <p:sldId id="350" r:id="rId23"/>
    <p:sldId id="322" r:id="rId24"/>
    <p:sldId id="307" r:id="rId25"/>
    <p:sldId id="300" r:id="rId26"/>
    <p:sldId id="310" r:id="rId27"/>
    <p:sldId id="283" r:id="rId28"/>
    <p:sldId id="313" r:id="rId29"/>
    <p:sldId id="314" r:id="rId30"/>
    <p:sldId id="275" r:id="rId31"/>
    <p:sldId id="346" r:id="rId32"/>
    <p:sldId id="348" r:id="rId33"/>
    <p:sldId id="276" r:id="rId34"/>
    <p:sldId id="347" r:id="rId35"/>
    <p:sldId id="345" r:id="rId36"/>
    <p:sldId id="282" r:id="rId37"/>
    <p:sldId id="301" r:id="rId38"/>
    <p:sldId id="343" r:id="rId39"/>
    <p:sldId id="329" r:id="rId40"/>
    <p:sldId id="331" r:id="rId41"/>
    <p:sldId id="332" r:id="rId42"/>
    <p:sldId id="334" r:id="rId43"/>
    <p:sldId id="333" r:id="rId44"/>
    <p:sldId id="308" r:id="rId45"/>
    <p:sldId id="309" r:id="rId46"/>
    <p:sldId id="324" r:id="rId47"/>
    <p:sldId id="325" r:id="rId48"/>
    <p:sldId id="280" r:id="rId49"/>
    <p:sldId id="319" r:id="rId50"/>
    <p:sldId id="316" r:id="rId51"/>
    <p:sldId id="318" r:id="rId52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54"/>
      <p:bold r:id="rId55"/>
      <p:italic r:id="rId56"/>
      <p:boldItalic r:id="rId57"/>
    </p:embeddedFont>
    <p:embeddedFont>
      <p:font typeface="Consolas" panose="020B0609020204030204" pitchFamily="49" charset="0"/>
      <p:regular r:id="rId58"/>
      <p:bold r:id="rId59"/>
      <p:italic r:id="rId60"/>
      <p:boldItalic r:id="rId61"/>
    </p:embeddedFont>
    <p:embeddedFont>
      <p:font typeface="Roboto" panose="02000000000000000000" pitchFamily="2" charset="0"/>
      <p:regular r:id="rId62"/>
    </p:embeddedFont>
    <p:embeddedFont>
      <p:font typeface="Trebuchet MS" panose="020B0603020202020204" pitchFamily="34" charset="0"/>
      <p:regular r:id="rId63"/>
      <p:bold r:id="rId64"/>
      <p:italic r:id="rId65"/>
      <p:boldItalic r:id="rId66"/>
    </p:embeddedFont>
    <p:embeddedFont>
      <p:font typeface="Wingdings 3" panose="05040102010807070707" pitchFamily="18" charset="2"/>
      <p:regular r:id="rId6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35">
          <p15:clr>
            <a:srgbClr val="747775"/>
          </p15:clr>
        </p15:guide>
        <p15:guide id="2" orient="horz" pos="162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8" roundtripDataSignature="AMtx7mjQWU0EJGZooKiB+Ua6qZWhgi7+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68" autoAdjust="0"/>
    <p:restoredTop sz="94431" autoAdjust="0"/>
  </p:normalViewPr>
  <p:slideViewPr>
    <p:cSldViewPr snapToGrid="0">
      <p:cViewPr>
        <p:scale>
          <a:sx n="150" d="100"/>
          <a:sy n="150" d="100"/>
        </p:scale>
        <p:origin x="198" y="-24"/>
      </p:cViewPr>
      <p:guideLst>
        <p:guide pos="2835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0.fntdata"/><Relationship Id="rId68" Type="http://customschemas.google.com/relationships/presentationmetadata" Target="metadata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5.fntdata"/><Relationship Id="rId66" Type="http://schemas.openxmlformats.org/officeDocument/2006/relationships/font" Target="fonts/font13.fntdata"/><Relationship Id="rId5" Type="http://schemas.openxmlformats.org/officeDocument/2006/relationships/slide" Target="slides/slide4.xml"/><Relationship Id="rId61" Type="http://schemas.openxmlformats.org/officeDocument/2006/relationships/font" Target="fonts/font8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3.fntdata"/><Relationship Id="rId64" Type="http://schemas.openxmlformats.org/officeDocument/2006/relationships/font" Target="fonts/font11.fntdata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6.fntdata"/><Relationship Id="rId67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.fntdata"/><Relationship Id="rId62" Type="http://schemas.openxmlformats.org/officeDocument/2006/relationships/font" Target="fonts/font9.fntdata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7.fntdata"/><Relationship Id="rId65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2.fntdata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0CD410-FB03-4F6B-B797-8BACF3D530AA}" type="doc">
      <dgm:prSet loTypeId="urn:microsoft.com/office/officeart/2018/2/layout/IconCircleList" loCatId="icon" qsTypeId="urn:microsoft.com/office/officeart/2005/8/quickstyle/simple1#54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5A13042-3836-4675-9D96-50EA7A5898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/>
            <a:t>Introduction</a:t>
          </a:r>
        </a:p>
      </dgm:t>
    </dgm:pt>
    <dgm:pt modelId="{62DB52E0-AD6D-45A7-8D69-F38C04FFC629}" type="parTrans" cxnId="{E13A156F-2D2D-4042-8C57-0AA8018C1D19}">
      <dgm:prSet/>
      <dgm:spPr/>
      <dgm:t>
        <a:bodyPr/>
        <a:lstStyle/>
        <a:p>
          <a:endParaRPr lang="en-US"/>
        </a:p>
      </dgm:t>
    </dgm:pt>
    <dgm:pt modelId="{4759FB09-4473-4210-871C-01505B709368}" type="sibTrans" cxnId="{E13A156F-2D2D-4042-8C57-0AA8018C1D1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28E9D14-44E9-4D0A-AFEE-80FFF61F17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/>
            <a:t>DNS Resolver</a:t>
          </a:r>
        </a:p>
      </dgm:t>
    </dgm:pt>
    <dgm:pt modelId="{B25E7D4A-4122-4A25-A269-52C49460129F}" type="parTrans" cxnId="{E88E8EC9-A543-4D5D-AEF5-ECC4371E85F8}">
      <dgm:prSet/>
      <dgm:spPr/>
      <dgm:t>
        <a:bodyPr/>
        <a:lstStyle/>
        <a:p>
          <a:endParaRPr lang="en-US"/>
        </a:p>
      </dgm:t>
    </dgm:pt>
    <dgm:pt modelId="{21058EFB-B40C-4A71-88A5-5CCD1BA0F27C}" type="sibTrans" cxnId="{E88E8EC9-A543-4D5D-AEF5-ECC4371E85F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EED5843-B6D9-4B17-AD65-56DB79B79C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/>
            <a:t>DNS Recording</a:t>
          </a:r>
        </a:p>
      </dgm:t>
    </dgm:pt>
    <dgm:pt modelId="{A30F2111-E902-4DF7-93F9-DEA4F3AF05FF}" type="parTrans" cxnId="{B46B5E9C-796F-4614-B45B-7AA805A34156}">
      <dgm:prSet/>
      <dgm:spPr/>
      <dgm:t>
        <a:bodyPr/>
        <a:lstStyle/>
        <a:p>
          <a:endParaRPr lang="en-US"/>
        </a:p>
      </dgm:t>
    </dgm:pt>
    <dgm:pt modelId="{E058D7ED-8B54-4749-B3D1-DF83C40A2BD2}" type="sibTrans" cxnId="{B46B5E9C-796F-4614-B45B-7AA805A3415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D92DF2D-1A2F-427D-9D83-50784902F9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/>
            <a:t>Internet Routing</a:t>
          </a:r>
        </a:p>
      </dgm:t>
    </dgm:pt>
    <dgm:pt modelId="{CEEFA9FE-FC7B-45BD-8BB7-C3F36893F20A}" type="parTrans" cxnId="{874D97A4-0976-4B0A-A155-DF3DB96FEB74}">
      <dgm:prSet/>
      <dgm:spPr/>
      <dgm:t>
        <a:bodyPr/>
        <a:lstStyle/>
        <a:p>
          <a:endParaRPr lang="en-US"/>
        </a:p>
      </dgm:t>
    </dgm:pt>
    <dgm:pt modelId="{6A74112F-8BBB-45C8-A52B-55EC273B2628}" type="sibTrans" cxnId="{874D97A4-0976-4B0A-A155-DF3DB96FEB7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6DCE668-450E-45C9-B4A5-EF55A8D9E2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/>
            <a:t>Host infrastructure</a:t>
          </a:r>
        </a:p>
      </dgm:t>
    </dgm:pt>
    <dgm:pt modelId="{A5FEED78-FE72-48BB-85C6-1E3D18DFB35F}" type="parTrans" cxnId="{9A65AC2C-85D2-4AF2-BBC3-55006F014310}">
      <dgm:prSet/>
      <dgm:spPr/>
      <dgm:t>
        <a:bodyPr/>
        <a:lstStyle/>
        <a:p>
          <a:endParaRPr lang="en-US"/>
        </a:p>
      </dgm:t>
    </dgm:pt>
    <dgm:pt modelId="{695383A9-2150-410D-92D4-E46A1227628E}" type="sibTrans" cxnId="{9A65AC2C-85D2-4AF2-BBC3-55006F01431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B531B12-2AAF-499E-A3F5-7F1BCFEBD5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/>
            <a:t>VPS Configuration</a:t>
          </a:r>
        </a:p>
      </dgm:t>
    </dgm:pt>
    <dgm:pt modelId="{DA5478D2-7571-4E8E-924A-DBE6318C2A9D}" type="parTrans" cxnId="{F9434B1F-D6FD-4303-AF39-A524068337D5}">
      <dgm:prSet/>
      <dgm:spPr/>
      <dgm:t>
        <a:bodyPr/>
        <a:lstStyle/>
        <a:p>
          <a:endParaRPr lang="en-US"/>
        </a:p>
      </dgm:t>
    </dgm:pt>
    <dgm:pt modelId="{B617C77D-1F41-4ACE-8BA0-D1A0F453C55F}" type="sibTrans" cxnId="{F9434B1F-D6FD-4303-AF39-A524068337D5}">
      <dgm:prSet/>
      <dgm:spPr/>
      <dgm:t>
        <a:bodyPr/>
        <a:lstStyle/>
        <a:p>
          <a:endParaRPr lang="en-US"/>
        </a:p>
      </dgm:t>
    </dgm:pt>
    <dgm:pt modelId="{5D1446DF-5C3F-4938-91A9-57C0DE00E382}" type="pres">
      <dgm:prSet presAssocID="{830CD410-FB03-4F6B-B797-8BACF3D530AA}" presName="root" presStyleCnt="0">
        <dgm:presLayoutVars>
          <dgm:dir/>
          <dgm:resizeHandles val="exact"/>
        </dgm:presLayoutVars>
      </dgm:prSet>
      <dgm:spPr/>
    </dgm:pt>
    <dgm:pt modelId="{111B207F-F367-4FB9-BF2B-B4EA73BD3035}" type="pres">
      <dgm:prSet presAssocID="{830CD410-FB03-4F6B-B797-8BACF3D530AA}" presName="container" presStyleCnt="0">
        <dgm:presLayoutVars>
          <dgm:dir/>
          <dgm:resizeHandles val="exact"/>
        </dgm:presLayoutVars>
      </dgm:prSet>
      <dgm:spPr/>
    </dgm:pt>
    <dgm:pt modelId="{4EECFBC8-9A2C-4EBE-8997-76C01D215D72}" type="pres">
      <dgm:prSet presAssocID="{05A13042-3836-4675-9D96-50EA7A58986D}" presName="compNode" presStyleCnt="0"/>
      <dgm:spPr/>
    </dgm:pt>
    <dgm:pt modelId="{213AEB59-530B-49DB-9D16-AA1438F9777C}" type="pres">
      <dgm:prSet presAssocID="{05A13042-3836-4675-9D96-50EA7A58986D}" presName="iconBgRect" presStyleLbl="bgShp" presStyleIdx="0" presStyleCnt="6"/>
      <dgm:spPr/>
    </dgm:pt>
    <dgm:pt modelId="{53E6B8E6-7C38-4365-9E02-39E184F5FCEA}" type="pres">
      <dgm:prSet presAssocID="{05A13042-3836-4675-9D96-50EA7A58986D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seignant"/>
        </a:ext>
      </dgm:extLst>
    </dgm:pt>
    <dgm:pt modelId="{3CF84655-1959-41F5-9113-E85384F44C03}" type="pres">
      <dgm:prSet presAssocID="{05A13042-3836-4675-9D96-50EA7A58986D}" presName="spaceRect" presStyleCnt="0"/>
      <dgm:spPr/>
    </dgm:pt>
    <dgm:pt modelId="{76AB85FE-0646-43E3-B734-40BAF6763644}" type="pres">
      <dgm:prSet presAssocID="{05A13042-3836-4675-9D96-50EA7A58986D}" presName="textRect" presStyleLbl="revTx" presStyleIdx="0" presStyleCnt="6">
        <dgm:presLayoutVars>
          <dgm:chMax val="1"/>
          <dgm:chPref val="1"/>
        </dgm:presLayoutVars>
      </dgm:prSet>
      <dgm:spPr/>
    </dgm:pt>
    <dgm:pt modelId="{965016D0-AD18-4886-8379-166594F01C69}" type="pres">
      <dgm:prSet presAssocID="{4759FB09-4473-4210-871C-01505B709368}" presName="sibTrans" presStyleLbl="sibTrans2D1" presStyleIdx="0" presStyleCnt="0"/>
      <dgm:spPr/>
    </dgm:pt>
    <dgm:pt modelId="{891F4D15-A67E-48BC-AEA5-8EC31A38CECB}" type="pres">
      <dgm:prSet presAssocID="{428E9D14-44E9-4D0A-AFEE-80FFF61F1792}" presName="compNode" presStyleCnt="0"/>
      <dgm:spPr/>
    </dgm:pt>
    <dgm:pt modelId="{0AAD60A3-59F8-48A5-8A7E-29A3FE6B8070}" type="pres">
      <dgm:prSet presAssocID="{428E9D14-44E9-4D0A-AFEE-80FFF61F1792}" presName="iconBgRect" presStyleLbl="bgShp" presStyleIdx="1" presStyleCnt="6"/>
      <dgm:spPr/>
    </dgm:pt>
    <dgm:pt modelId="{AD4E42B0-5671-4F3F-B7D1-E185EEF238EE}" type="pres">
      <dgm:prSet presAssocID="{428E9D14-44E9-4D0A-AFEE-80FFF61F1792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inateur"/>
        </a:ext>
      </dgm:extLst>
    </dgm:pt>
    <dgm:pt modelId="{4F9DE8B5-30CF-40AE-A60E-FD6A92EDAA9E}" type="pres">
      <dgm:prSet presAssocID="{428E9D14-44E9-4D0A-AFEE-80FFF61F1792}" presName="spaceRect" presStyleCnt="0"/>
      <dgm:spPr/>
    </dgm:pt>
    <dgm:pt modelId="{0D41FC6D-99A6-40ED-BFEC-1CC4622E34A3}" type="pres">
      <dgm:prSet presAssocID="{428E9D14-44E9-4D0A-AFEE-80FFF61F1792}" presName="textRect" presStyleLbl="revTx" presStyleIdx="1" presStyleCnt="6">
        <dgm:presLayoutVars>
          <dgm:chMax val="1"/>
          <dgm:chPref val="1"/>
        </dgm:presLayoutVars>
      </dgm:prSet>
      <dgm:spPr/>
    </dgm:pt>
    <dgm:pt modelId="{B3FCFE51-8372-4AFF-A00D-04BF736F9CA1}" type="pres">
      <dgm:prSet presAssocID="{21058EFB-B40C-4A71-88A5-5CCD1BA0F27C}" presName="sibTrans" presStyleLbl="sibTrans2D1" presStyleIdx="0" presStyleCnt="0"/>
      <dgm:spPr/>
    </dgm:pt>
    <dgm:pt modelId="{B9F9886D-1D5E-47CF-8BFE-B4621DBA2D6A}" type="pres">
      <dgm:prSet presAssocID="{BEED5843-B6D9-4B17-AD65-56DB79B79C36}" presName="compNode" presStyleCnt="0"/>
      <dgm:spPr/>
    </dgm:pt>
    <dgm:pt modelId="{656D148F-21C4-4841-B4B5-6814B920C87B}" type="pres">
      <dgm:prSet presAssocID="{BEED5843-B6D9-4B17-AD65-56DB79B79C36}" presName="iconBgRect" presStyleLbl="bgShp" presStyleIdx="2" presStyleCnt="6"/>
      <dgm:spPr/>
    </dgm:pt>
    <dgm:pt modelId="{E6E29044-B3AE-481D-BFE3-27E086D53775}" type="pres">
      <dgm:prSet presAssocID="{BEED5843-B6D9-4B17-AD65-56DB79B79C36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inateur portable"/>
        </a:ext>
      </dgm:extLst>
    </dgm:pt>
    <dgm:pt modelId="{A69DC6BB-0585-4338-91D0-72F230DD378A}" type="pres">
      <dgm:prSet presAssocID="{BEED5843-B6D9-4B17-AD65-56DB79B79C36}" presName="spaceRect" presStyleCnt="0"/>
      <dgm:spPr/>
    </dgm:pt>
    <dgm:pt modelId="{BEFF1FBA-774E-4A28-AE4F-5EBC74E364AE}" type="pres">
      <dgm:prSet presAssocID="{BEED5843-B6D9-4B17-AD65-56DB79B79C36}" presName="textRect" presStyleLbl="revTx" presStyleIdx="2" presStyleCnt="6" custScaleX="125368" custLinFactNeighborX="5111" custLinFactNeighborY="-4378">
        <dgm:presLayoutVars>
          <dgm:chMax val="1"/>
          <dgm:chPref val="1"/>
        </dgm:presLayoutVars>
      </dgm:prSet>
      <dgm:spPr/>
    </dgm:pt>
    <dgm:pt modelId="{6EF25EE8-F035-4C89-B0D6-A4310CB7F685}" type="pres">
      <dgm:prSet presAssocID="{E058D7ED-8B54-4749-B3D1-DF83C40A2BD2}" presName="sibTrans" presStyleLbl="sibTrans2D1" presStyleIdx="0" presStyleCnt="0"/>
      <dgm:spPr/>
    </dgm:pt>
    <dgm:pt modelId="{A8207F30-EEA8-4332-963B-6CABBD1A4E68}" type="pres">
      <dgm:prSet presAssocID="{ED92DF2D-1A2F-427D-9D83-50784902F923}" presName="compNode" presStyleCnt="0"/>
      <dgm:spPr/>
    </dgm:pt>
    <dgm:pt modelId="{AB91B78A-311F-4E79-8717-910B48F4DAD8}" type="pres">
      <dgm:prSet presAssocID="{ED92DF2D-1A2F-427D-9D83-50784902F923}" presName="iconBgRect" presStyleLbl="bgShp" presStyleIdx="3" presStyleCnt="6"/>
      <dgm:spPr/>
    </dgm:pt>
    <dgm:pt modelId="{8E1424E7-6B50-4858-B64F-80B973F741BC}" type="pres">
      <dgm:prSet presAssocID="{ED92DF2D-1A2F-427D-9D83-50784902F923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0EED0BF8-0D8B-4613-B46E-4CABA0D24EDA}" type="pres">
      <dgm:prSet presAssocID="{ED92DF2D-1A2F-427D-9D83-50784902F923}" presName="spaceRect" presStyleCnt="0"/>
      <dgm:spPr/>
    </dgm:pt>
    <dgm:pt modelId="{1291346B-58BF-425A-8EA2-89857836EBA6}" type="pres">
      <dgm:prSet presAssocID="{ED92DF2D-1A2F-427D-9D83-50784902F923}" presName="textRect" presStyleLbl="revTx" presStyleIdx="3" presStyleCnt="6">
        <dgm:presLayoutVars>
          <dgm:chMax val="1"/>
          <dgm:chPref val="1"/>
        </dgm:presLayoutVars>
      </dgm:prSet>
      <dgm:spPr/>
    </dgm:pt>
    <dgm:pt modelId="{13B4D012-FE50-4070-8B91-9274206B11CA}" type="pres">
      <dgm:prSet presAssocID="{6A74112F-8BBB-45C8-A52B-55EC273B2628}" presName="sibTrans" presStyleLbl="sibTrans2D1" presStyleIdx="0" presStyleCnt="0"/>
      <dgm:spPr/>
    </dgm:pt>
    <dgm:pt modelId="{E2CD9685-F9F7-4F08-948D-6A49825A0601}" type="pres">
      <dgm:prSet presAssocID="{16DCE668-450E-45C9-B4A5-EF55A8D9E2AA}" presName="compNode" presStyleCnt="0"/>
      <dgm:spPr/>
    </dgm:pt>
    <dgm:pt modelId="{DABB4A33-1998-45C7-9C47-8777CFD0DB0A}" type="pres">
      <dgm:prSet presAssocID="{16DCE668-450E-45C9-B4A5-EF55A8D9E2AA}" presName="iconBgRect" presStyleLbl="bgShp" presStyleIdx="4" presStyleCnt="6"/>
      <dgm:spPr/>
    </dgm:pt>
    <dgm:pt modelId="{1304E814-5732-48BA-8E56-DBF3720FC03F}" type="pres">
      <dgm:prSet presAssocID="{16DCE668-450E-45C9-B4A5-EF55A8D9E2AA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onnées"/>
        </a:ext>
      </dgm:extLst>
    </dgm:pt>
    <dgm:pt modelId="{05F6F3B8-38EE-443E-85F4-290F3470EA24}" type="pres">
      <dgm:prSet presAssocID="{16DCE668-450E-45C9-B4A5-EF55A8D9E2AA}" presName="spaceRect" presStyleCnt="0"/>
      <dgm:spPr/>
    </dgm:pt>
    <dgm:pt modelId="{77012553-ABFD-4F03-9D2B-9C7E73662A55}" type="pres">
      <dgm:prSet presAssocID="{16DCE668-450E-45C9-B4A5-EF55A8D9E2AA}" presName="textRect" presStyleLbl="revTx" presStyleIdx="4" presStyleCnt="6">
        <dgm:presLayoutVars>
          <dgm:chMax val="1"/>
          <dgm:chPref val="1"/>
        </dgm:presLayoutVars>
      </dgm:prSet>
      <dgm:spPr/>
    </dgm:pt>
    <dgm:pt modelId="{6CC541DB-8A77-4DD5-B944-2FCB8A557E56}" type="pres">
      <dgm:prSet presAssocID="{695383A9-2150-410D-92D4-E46A1227628E}" presName="sibTrans" presStyleLbl="sibTrans2D1" presStyleIdx="0" presStyleCnt="0"/>
      <dgm:spPr/>
    </dgm:pt>
    <dgm:pt modelId="{2E2ACC97-1772-404E-9F31-87C500555916}" type="pres">
      <dgm:prSet presAssocID="{2B531B12-2AAF-499E-A3F5-7F1BCFEBD5C3}" presName="compNode" presStyleCnt="0"/>
      <dgm:spPr/>
    </dgm:pt>
    <dgm:pt modelId="{333C712E-3514-4409-9D10-D7442ED44A0D}" type="pres">
      <dgm:prSet presAssocID="{2B531B12-2AAF-499E-A3F5-7F1BCFEBD5C3}" presName="iconBgRect" presStyleLbl="bgShp" presStyleIdx="5" presStyleCnt="6"/>
      <dgm:spPr/>
    </dgm:pt>
    <dgm:pt modelId="{77B274EA-D10B-4759-845A-9D5D0F3BF805}" type="pres">
      <dgm:prSet presAssocID="{2B531B12-2AAF-499E-A3F5-7F1BCFEBD5C3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1EEECC71-143F-479B-8D2E-C06F0C65AF1D}" type="pres">
      <dgm:prSet presAssocID="{2B531B12-2AAF-499E-A3F5-7F1BCFEBD5C3}" presName="spaceRect" presStyleCnt="0"/>
      <dgm:spPr/>
    </dgm:pt>
    <dgm:pt modelId="{AA7AE8F5-658B-4973-BCC5-A4F8F4BED988}" type="pres">
      <dgm:prSet presAssocID="{2B531B12-2AAF-499E-A3F5-7F1BCFEBD5C3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AB89830C-FED7-4FA0-83FC-4A6B0662DE91}" type="presOf" srcId="{05A13042-3836-4675-9D96-50EA7A58986D}" destId="{76AB85FE-0646-43E3-B734-40BAF6763644}" srcOrd="0" destOrd="0" presId="urn:microsoft.com/office/officeart/2018/2/layout/IconCircleList"/>
    <dgm:cxn modelId="{683D8918-6938-4EBD-9536-8B76CA730E64}" type="presOf" srcId="{6A74112F-8BBB-45C8-A52B-55EC273B2628}" destId="{13B4D012-FE50-4070-8B91-9274206B11CA}" srcOrd="0" destOrd="0" presId="urn:microsoft.com/office/officeart/2018/2/layout/IconCircleList"/>
    <dgm:cxn modelId="{F9434B1F-D6FD-4303-AF39-A524068337D5}" srcId="{830CD410-FB03-4F6B-B797-8BACF3D530AA}" destId="{2B531B12-2AAF-499E-A3F5-7F1BCFEBD5C3}" srcOrd="5" destOrd="0" parTransId="{DA5478D2-7571-4E8E-924A-DBE6318C2A9D}" sibTransId="{B617C77D-1F41-4ACE-8BA0-D1A0F453C55F}"/>
    <dgm:cxn modelId="{9A65AC2C-85D2-4AF2-BBC3-55006F014310}" srcId="{830CD410-FB03-4F6B-B797-8BACF3D530AA}" destId="{16DCE668-450E-45C9-B4A5-EF55A8D9E2AA}" srcOrd="4" destOrd="0" parTransId="{A5FEED78-FE72-48BB-85C6-1E3D18DFB35F}" sibTransId="{695383A9-2150-410D-92D4-E46A1227628E}"/>
    <dgm:cxn modelId="{BFEF843A-A66D-4160-AEB5-7E7F719E1990}" type="presOf" srcId="{4759FB09-4473-4210-871C-01505B709368}" destId="{965016D0-AD18-4886-8379-166594F01C69}" srcOrd="0" destOrd="0" presId="urn:microsoft.com/office/officeart/2018/2/layout/IconCircleList"/>
    <dgm:cxn modelId="{563E8566-FB70-4224-876B-44BE9D1270BB}" type="presOf" srcId="{2B531B12-2AAF-499E-A3F5-7F1BCFEBD5C3}" destId="{AA7AE8F5-658B-4973-BCC5-A4F8F4BED988}" srcOrd="0" destOrd="0" presId="urn:microsoft.com/office/officeart/2018/2/layout/IconCircleList"/>
    <dgm:cxn modelId="{DC534D67-B089-49A6-9369-65462B6CC8F9}" type="presOf" srcId="{830CD410-FB03-4F6B-B797-8BACF3D530AA}" destId="{5D1446DF-5C3F-4938-91A9-57C0DE00E382}" srcOrd="0" destOrd="0" presId="urn:microsoft.com/office/officeart/2018/2/layout/IconCircleList"/>
    <dgm:cxn modelId="{E13A156F-2D2D-4042-8C57-0AA8018C1D19}" srcId="{830CD410-FB03-4F6B-B797-8BACF3D530AA}" destId="{05A13042-3836-4675-9D96-50EA7A58986D}" srcOrd="0" destOrd="0" parTransId="{62DB52E0-AD6D-45A7-8D69-F38C04FFC629}" sibTransId="{4759FB09-4473-4210-871C-01505B709368}"/>
    <dgm:cxn modelId="{6F45E455-2835-4EDD-94B1-E59C9DAED910}" type="presOf" srcId="{695383A9-2150-410D-92D4-E46A1227628E}" destId="{6CC541DB-8A77-4DD5-B944-2FCB8A557E56}" srcOrd="0" destOrd="0" presId="urn:microsoft.com/office/officeart/2018/2/layout/IconCircleList"/>
    <dgm:cxn modelId="{F2466B9A-C1AB-474E-9684-0751C3B5E01A}" type="presOf" srcId="{21058EFB-B40C-4A71-88A5-5CCD1BA0F27C}" destId="{B3FCFE51-8372-4AFF-A00D-04BF736F9CA1}" srcOrd="0" destOrd="0" presId="urn:microsoft.com/office/officeart/2018/2/layout/IconCircleList"/>
    <dgm:cxn modelId="{3DF34E9A-7190-489C-84C0-CA1F37F9DC1B}" type="presOf" srcId="{BEED5843-B6D9-4B17-AD65-56DB79B79C36}" destId="{BEFF1FBA-774E-4A28-AE4F-5EBC74E364AE}" srcOrd="0" destOrd="0" presId="urn:microsoft.com/office/officeart/2018/2/layout/IconCircleList"/>
    <dgm:cxn modelId="{B46B5E9C-796F-4614-B45B-7AA805A34156}" srcId="{830CD410-FB03-4F6B-B797-8BACF3D530AA}" destId="{BEED5843-B6D9-4B17-AD65-56DB79B79C36}" srcOrd="2" destOrd="0" parTransId="{A30F2111-E902-4DF7-93F9-DEA4F3AF05FF}" sibTransId="{E058D7ED-8B54-4749-B3D1-DF83C40A2BD2}"/>
    <dgm:cxn modelId="{874D97A4-0976-4B0A-A155-DF3DB96FEB74}" srcId="{830CD410-FB03-4F6B-B797-8BACF3D530AA}" destId="{ED92DF2D-1A2F-427D-9D83-50784902F923}" srcOrd="3" destOrd="0" parTransId="{CEEFA9FE-FC7B-45BD-8BB7-C3F36893F20A}" sibTransId="{6A74112F-8BBB-45C8-A52B-55EC273B2628}"/>
    <dgm:cxn modelId="{4DB8F1B7-8A4D-483E-8C76-1160183E21CB}" type="presOf" srcId="{ED92DF2D-1A2F-427D-9D83-50784902F923}" destId="{1291346B-58BF-425A-8EA2-89857836EBA6}" srcOrd="0" destOrd="0" presId="urn:microsoft.com/office/officeart/2018/2/layout/IconCircleList"/>
    <dgm:cxn modelId="{E88E8EC9-A543-4D5D-AEF5-ECC4371E85F8}" srcId="{830CD410-FB03-4F6B-B797-8BACF3D530AA}" destId="{428E9D14-44E9-4D0A-AFEE-80FFF61F1792}" srcOrd="1" destOrd="0" parTransId="{B25E7D4A-4122-4A25-A269-52C49460129F}" sibTransId="{21058EFB-B40C-4A71-88A5-5CCD1BA0F27C}"/>
    <dgm:cxn modelId="{CB0703CE-227A-4DFA-ADC5-961E294D70C9}" type="presOf" srcId="{428E9D14-44E9-4D0A-AFEE-80FFF61F1792}" destId="{0D41FC6D-99A6-40ED-BFEC-1CC4622E34A3}" srcOrd="0" destOrd="0" presId="urn:microsoft.com/office/officeart/2018/2/layout/IconCircleList"/>
    <dgm:cxn modelId="{90978DD8-7AFA-4E5E-B09D-A3E2CAE87C6E}" type="presOf" srcId="{E058D7ED-8B54-4749-B3D1-DF83C40A2BD2}" destId="{6EF25EE8-F035-4C89-B0D6-A4310CB7F685}" srcOrd="0" destOrd="0" presId="urn:microsoft.com/office/officeart/2018/2/layout/IconCircleList"/>
    <dgm:cxn modelId="{6873D3E6-5D36-4D0D-8CC9-1F4653BA7A13}" type="presOf" srcId="{16DCE668-450E-45C9-B4A5-EF55A8D9E2AA}" destId="{77012553-ABFD-4F03-9D2B-9C7E73662A55}" srcOrd="0" destOrd="0" presId="urn:microsoft.com/office/officeart/2018/2/layout/IconCircleList"/>
    <dgm:cxn modelId="{29698D93-A2C6-4B43-9979-58208F51C380}" type="presParOf" srcId="{5D1446DF-5C3F-4938-91A9-57C0DE00E382}" destId="{111B207F-F367-4FB9-BF2B-B4EA73BD3035}" srcOrd="0" destOrd="0" presId="urn:microsoft.com/office/officeart/2018/2/layout/IconCircleList"/>
    <dgm:cxn modelId="{790A475A-680A-40AD-BB4F-C51E8F11E4EA}" type="presParOf" srcId="{111B207F-F367-4FB9-BF2B-B4EA73BD3035}" destId="{4EECFBC8-9A2C-4EBE-8997-76C01D215D72}" srcOrd="0" destOrd="0" presId="urn:microsoft.com/office/officeart/2018/2/layout/IconCircleList"/>
    <dgm:cxn modelId="{BAF672AF-EA0E-4646-9328-E958286ABB63}" type="presParOf" srcId="{4EECFBC8-9A2C-4EBE-8997-76C01D215D72}" destId="{213AEB59-530B-49DB-9D16-AA1438F9777C}" srcOrd="0" destOrd="0" presId="urn:microsoft.com/office/officeart/2018/2/layout/IconCircleList"/>
    <dgm:cxn modelId="{A81ADCEC-A706-459C-8BD5-76C20C7A4DAB}" type="presParOf" srcId="{4EECFBC8-9A2C-4EBE-8997-76C01D215D72}" destId="{53E6B8E6-7C38-4365-9E02-39E184F5FCEA}" srcOrd="1" destOrd="0" presId="urn:microsoft.com/office/officeart/2018/2/layout/IconCircleList"/>
    <dgm:cxn modelId="{F4F85D9F-D7A5-40B3-ABE1-38DEBCFC47A6}" type="presParOf" srcId="{4EECFBC8-9A2C-4EBE-8997-76C01D215D72}" destId="{3CF84655-1959-41F5-9113-E85384F44C03}" srcOrd="2" destOrd="0" presId="urn:microsoft.com/office/officeart/2018/2/layout/IconCircleList"/>
    <dgm:cxn modelId="{6337561E-BF8E-45D3-9726-04771E9158AE}" type="presParOf" srcId="{4EECFBC8-9A2C-4EBE-8997-76C01D215D72}" destId="{76AB85FE-0646-43E3-B734-40BAF6763644}" srcOrd="3" destOrd="0" presId="urn:microsoft.com/office/officeart/2018/2/layout/IconCircleList"/>
    <dgm:cxn modelId="{E0686671-F271-4F57-A5D7-4D1B286CFBA3}" type="presParOf" srcId="{111B207F-F367-4FB9-BF2B-B4EA73BD3035}" destId="{965016D0-AD18-4886-8379-166594F01C69}" srcOrd="1" destOrd="0" presId="urn:microsoft.com/office/officeart/2018/2/layout/IconCircleList"/>
    <dgm:cxn modelId="{155A5D0F-D681-4A76-8ABD-E4ACA41234E0}" type="presParOf" srcId="{111B207F-F367-4FB9-BF2B-B4EA73BD3035}" destId="{891F4D15-A67E-48BC-AEA5-8EC31A38CECB}" srcOrd="2" destOrd="0" presId="urn:microsoft.com/office/officeart/2018/2/layout/IconCircleList"/>
    <dgm:cxn modelId="{04D3ADA9-0ADB-4278-8518-F84CA2FD4286}" type="presParOf" srcId="{891F4D15-A67E-48BC-AEA5-8EC31A38CECB}" destId="{0AAD60A3-59F8-48A5-8A7E-29A3FE6B8070}" srcOrd="0" destOrd="0" presId="urn:microsoft.com/office/officeart/2018/2/layout/IconCircleList"/>
    <dgm:cxn modelId="{52D2D7C6-3007-493A-92BE-42DCD7C1BF4E}" type="presParOf" srcId="{891F4D15-A67E-48BC-AEA5-8EC31A38CECB}" destId="{AD4E42B0-5671-4F3F-B7D1-E185EEF238EE}" srcOrd="1" destOrd="0" presId="urn:microsoft.com/office/officeart/2018/2/layout/IconCircleList"/>
    <dgm:cxn modelId="{2ACE3FA0-06D4-4C31-ACCC-93E984DE5604}" type="presParOf" srcId="{891F4D15-A67E-48BC-AEA5-8EC31A38CECB}" destId="{4F9DE8B5-30CF-40AE-A60E-FD6A92EDAA9E}" srcOrd="2" destOrd="0" presId="urn:microsoft.com/office/officeart/2018/2/layout/IconCircleList"/>
    <dgm:cxn modelId="{9A651AE7-B177-41FE-AC5A-7E9EA13B255E}" type="presParOf" srcId="{891F4D15-A67E-48BC-AEA5-8EC31A38CECB}" destId="{0D41FC6D-99A6-40ED-BFEC-1CC4622E34A3}" srcOrd="3" destOrd="0" presId="urn:microsoft.com/office/officeart/2018/2/layout/IconCircleList"/>
    <dgm:cxn modelId="{6157E57D-EB50-44ED-BD07-25B14C6DD619}" type="presParOf" srcId="{111B207F-F367-4FB9-BF2B-B4EA73BD3035}" destId="{B3FCFE51-8372-4AFF-A00D-04BF736F9CA1}" srcOrd="3" destOrd="0" presId="urn:microsoft.com/office/officeart/2018/2/layout/IconCircleList"/>
    <dgm:cxn modelId="{894A35C8-7901-4426-9DCF-DD5F4913BCC9}" type="presParOf" srcId="{111B207F-F367-4FB9-BF2B-B4EA73BD3035}" destId="{B9F9886D-1D5E-47CF-8BFE-B4621DBA2D6A}" srcOrd="4" destOrd="0" presId="urn:microsoft.com/office/officeart/2018/2/layout/IconCircleList"/>
    <dgm:cxn modelId="{DBCB9858-5EAB-4BB4-B1DF-76BD101F1ED2}" type="presParOf" srcId="{B9F9886D-1D5E-47CF-8BFE-B4621DBA2D6A}" destId="{656D148F-21C4-4841-B4B5-6814B920C87B}" srcOrd="0" destOrd="0" presId="urn:microsoft.com/office/officeart/2018/2/layout/IconCircleList"/>
    <dgm:cxn modelId="{99EA8DAC-38A2-423B-BDC3-2AD79B5329DB}" type="presParOf" srcId="{B9F9886D-1D5E-47CF-8BFE-B4621DBA2D6A}" destId="{E6E29044-B3AE-481D-BFE3-27E086D53775}" srcOrd="1" destOrd="0" presId="urn:microsoft.com/office/officeart/2018/2/layout/IconCircleList"/>
    <dgm:cxn modelId="{2824D600-5D65-49F1-AC72-72C2BC2C5D23}" type="presParOf" srcId="{B9F9886D-1D5E-47CF-8BFE-B4621DBA2D6A}" destId="{A69DC6BB-0585-4338-91D0-72F230DD378A}" srcOrd="2" destOrd="0" presId="urn:microsoft.com/office/officeart/2018/2/layout/IconCircleList"/>
    <dgm:cxn modelId="{B8D7D098-51DF-4806-A78C-6B711A26CD29}" type="presParOf" srcId="{B9F9886D-1D5E-47CF-8BFE-B4621DBA2D6A}" destId="{BEFF1FBA-774E-4A28-AE4F-5EBC74E364AE}" srcOrd="3" destOrd="0" presId="urn:microsoft.com/office/officeart/2018/2/layout/IconCircleList"/>
    <dgm:cxn modelId="{3CC19585-0230-4675-B5EA-E9F59255FC53}" type="presParOf" srcId="{111B207F-F367-4FB9-BF2B-B4EA73BD3035}" destId="{6EF25EE8-F035-4C89-B0D6-A4310CB7F685}" srcOrd="5" destOrd="0" presId="urn:microsoft.com/office/officeart/2018/2/layout/IconCircleList"/>
    <dgm:cxn modelId="{1E8E212E-20B5-4277-8FE5-60CE57C26B5E}" type="presParOf" srcId="{111B207F-F367-4FB9-BF2B-B4EA73BD3035}" destId="{A8207F30-EEA8-4332-963B-6CABBD1A4E68}" srcOrd="6" destOrd="0" presId="urn:microsoft.com/office/officeart/2018/2/layout/IconCircleList"/>
    <dgm:cxn modelId="{51285E93-9ED4-44E1-BE83-528AE25651AC}" type="presParOf" srcId="{A8207F30-EEA8-4332-963B-6CABBD1A4E68}" destId="{AB91B78A-311F-4E79-8717-910B48F4DAD8}" srcOrd="0" destOrd="0" presId="urn:microsoft.com/office/officeart/2018/2/layout/IconCircleList"/>
    <dgm:cxn modelId="{A1BF9451-882A-4D71-AD32-462E2E02CAB5}" type="presParOf" srcId="{A8207F30-EEA8-4332-963B-6CABBD1A4E68}" destId="{8E1424E7-6B50-4858-B64F-80B973F741BC}" srcOrd="1" destOrd="0" presId="urn:microsoft.com/office/officeart/2018/2/layout/IconCircleList"/>
    <dgm:cxn modelId="{AC9A77D0-8290-4983-8B72-C1AFBFD3291E}" type="presParOf" srcId="{A8207F30-EEA8-4332-963B-6CABBD1A4E68}" destId="{0EED0BF8-0D8B-4613-B46E-4CABA0D24EDA}" srcOrd="2" destOrd="0" presId="urn:microsoft.com/office/officeart/2018/2/layout/IconCircleList"/>
    <dgm:cxn modelId="{A4F3AE67-D31D-4B5F-A4BC-F5C141B46DE7}" type="presParOf" srcId="{A8207F30-EEA8-4332-963B-6CABBD1A4E68}" destId="{1291346B-58BF-425A-8EA2-89857836EBA6}" srcOrd="3" destOrd="0" presId="urn:microsoft.com/office/officeart/2018/2/layout/IconCircleList"/>
    <dgm:cxn modelId="{AF8ECED3-5097-4818-B60D-91ACAD35DC7E}" type="presParOf" srcId="{111B207F-F367-4FB9-BF2B-B4EA73BD3035}" destId="{13B4D012-FE50-4070-8B91-9274206B11CA}" srcOrd="7" destOrd="0" presId="urn:microsoft.com/office/officeart/2018/2/layout/IconCircleList"/>
    <dgm:cxn modelId="{69D14544-8582-4F89-949E-2E8AF3CBE3D8}" type="presParOf" srcId="{111B207F-F367-4FB9-BF2B-B4EA73BD3035}" destId="{E2CD9685-F9F7-4F08-948D-6A49825A0601}" srcOrd="8" destOrd="0" presId="urn:microsoft.com/office/officeart/2018/2/layout/IconCircleList"/>
    <dgm:cxn modelId="{EB13DF9B-873A-4379-A434-88CBA037D5FB}" type="presParOf" srcId="{E2CD9685-F9F7-4F08-948D-6A49825A0601}" destId="{DABB4A33-1998-45C7-9C47-8777CFD0DB0A}" srcOrd="0" destOrd="0" presId="urn:microsoft.com/office/officeart/2018/2/layout/IconCircleList"/>
    <dgm:cxn modelId="{4FE68F1E-ECBE-4799-ADFA-5BC5070820E6}" type="presParOf" srcId="{E2CD9685-F9F7-4F08-948D-6A49825A0601}" destId="{1304E814-5732-48BA-8E56-DBF3720FC03F}" srcOrd="1" destOrd="0" presId="urn:microsoft.com/office/officeart/2018/2/layout/IconCircleList"/>
    <dgm:cxn modelId="{551BB633-B8CB-4478-B166-995E149A7DAD}" type="presParOf" srcId="{E2CD9685-F9F7-4F08-948D-6A49825A0601}" destId="{05F6F3B8-38EE-443E-85F4-290F3470EA24}" srcOrd="2" destOrd="0" presId="urn:microsoft.com/office/officeart/2018/2/layout/IconCircleList"/>
    <dgm:cxn modelId="{1BB660B7-86E2-4664-B6C1-2583371C8A3D}" type="presParOf" srcId="{E2CD9685-F9F7-4F08-948D-6A49825A0601}" destId="{77012553-ABFD-4F03-9D2B-9C7E73662A55}" srcOrd="3" destOrd="0" presId="urn:microsoft.com/office/officeart/2018/2/layout/IconCircleList"/>
    <dgm:cxn modelId="{501E70EF-3536-43F9-8E04-8D61C2E7ADE1}" type="presParOf" srcId="{111B207F-F367-4FB9-BF2B-B4EA73BD3035}" destId="{6CC541DB-8A77-4DD5-B944-2FCB8A557E56}" srcOrd="9" destOrd="0" presId="urn:microsoft.com/office/officeart/2018/2/layout/IconCircleList"/>
    <dgm:cxn modelId="{AEEBFB80-7DF7-4C7E-8E57-680A1B6DDFC4}" type="presParOf" srcId="{111B207F-F367-4FB9-BF2B-B4EA73BD3035}" destId="{2E2ACC97-1772-404E-9F31-87C500555916}" srcOrd="10" destOrd="0" presId="urn:microsoft.com/office/officeart/2018/2/layout/IconCircleList"/>
    <dgm:cxn modelId="{E133CE49-2448-48AC-992E-55A27B6CDA24}" type="presParOf" srcId="{2E2ACC97-1772-404E-9F31-87C500555916}" destId="{333C712E-3514-4409-9D10-D7442ED44A0D}" srcOrd="0" destOrd="0" presId="urn:microsoft.com/office/officeart/2018/2/layout/IconCircleList"/>
    <dgm:cxn modelId="{1319EC28-D3F3-4FF8-968F-4AE2BFA2A609}" type="presParOf" srcId="{2E2ACC97-1772-404E-9F31-87C500555916}" destId="{77B274EA-D10B-4759-845A-9D5D0F3BF805}" srcOrd="1" destOrd="0" presId="urn:microsoft.com/office/officeart/2018/2/layout/IconCircleList"/>
    <dgm:cxn modelId="{08198B81-DC81-4C19-9F37-D80340355008}" type="presParOf" srcId="{2E2ACC97-1772-404E-9F31-87C500555916}" destId="{1EEECC71-143F-479B-8D2E-C06F0C65AF1D}" srcOrd="2" destOrd="0" presId="urn:microsoft.com/office/officeart/2018/2/layout/IconCircleList"/>
    <dgm:cxn modelId="{06594CB6-D6D4-475C-A1EE-1E405F7054DC}" type="presParOf" srcId="{2E2ACC97-1772-404E-9F31-87C500555916}" destId="{AA7AE8F5-658B-4973-BCC5-A4F8F4BED98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3AEB59-530B-49DB-9D16-AA1438F9777C}">
      <dsp:nvSpPr>
        <dsp:cNvPr id="0" name=""/>
        <dsp:cNvSpPr/>
      </dsp:nvSpPr>
      <dsp:spPr>
        <a:xfrm>
          <a:off x="195694" y="402180"/>
          <a:ext cx="657400" cy="6574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E6B8E6-7C38-4365-9E02-39E184F5FCEA}">
      <dsp:nvSpPr>
        <dsp:cNvPr id="0" name=""/>
        <dsp:cNvSpPr/>
      </dsp:nvSpPr>
      <dsp:spPr>
        <a:xfrm>
          <a:off x="333749" y="540234"/>
          <a:ext cx="381292" cy="3812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AB85FE-0646-43E3-B734-40BAF6763644}">
      <dsp:nvSpPr>
        <dsp:cNvPr id="0" name=""/>
        <dsp:cNvSpPr/>
      </dsp:nvSpPr>
      <dsp:spPr>
        <a:xfrm>
          <a:off x="993967" y="402180"/>
          <a:ext cx="1549587" cy="65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/>
            <a:t>Introduction</a:t>
          </a:r>
        </a:p>
      </dsp:txBody>
      <dsp:txXfrm>
        <a:off x="993967" y="402180"/>
        <a:ext cx="1549587" cy="657400"/>
      </dsp:txXfrm>
    </dsp:sp>
    <dsp:sp modelId="{0AAD60A3-59F8-48A5-8A7E-29A3FE6B8070}">
      <dsp:nvSpPr>
        <dsp:cNvPr id="0" name=""/>
        <dsp:cNvSpPr/>
      </dsp:nvSpPr>
      <dsp:spPr>
        <a:xfrm>
          <a:off x="2813559" y="402180"/>
          <a:ext cx="657400" cy="6574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4E42B0-5671-4F3F-B7D1-E185EEF238EE}">
      <dsp:nvSpPr>
        <dsp:cNvPr id="0" name=""/>
        <dsp:cNvSpPr/>
      </dsp:nvSpPr>
      <dsp:spPr>
        <a:xfrm>
          <a:off x="2951613" y="540234"/>
          <a:ext cx="381292" cy="3812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41FC6D-99A6-40ED-BFEC-1CC4622E34A3}">
      <dsp:nvSpPr>
        <dsp:cNvPr id="0" name=""/>
        <dsp:cNvSpPr/>
      </dsp:nvSpPr>
      <dsp:spPr>
        <a:xfrm>
          <a:off x="3611831" y="402180"/>
          <a:ext cx="1549587" cy="65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/>
            <a:t>DNS Resolver</a:t>
          </a:r>
        </a:p>
      </dsp:txBody>
      <dsp:txXfrm>
        <a:off x="3611831" y="402180"/>
        <a:ext cx="1549587" cy="657400"/>
      </dsp:txXfrm>
    </dsp:sp>
    <dsp:sp modelId="{656D148F-21C4-4841-B4B5-6814B920C87B}">
      <dsp:nvSpPr>
        <dsp:cNvPr id="0" name=""/>
        <dsp:cNvSpPr/>
      </dsp:nvSpPr>
      <dsp:spPr>
        <a:xfrm>
          <a:off x="5431423" y="402180"/>
          <a:ext cx="657400" cy="6574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E29044-B3AE-481D-BFE3-27E086D53775}">
      <dsp:nvSpPr>
        <dsp:cNvPr id="0" name=""/>
        <dsp:cNvSpPr/>
      </dsp:nvSpPr>
      <dsp:spPr>
        <a:xfrm>
          <a:off x="5569477" y="540234"/>
          <a:ext cx="381292" cy="3812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FF1FBA-774E-4A28-AE4F-5EBC74E364AE}">
      <dsp:nvSpPr>
        <dsp:cNvPr id="0" name=""/>
        <dsp:cNvSpPr/>
      </dsp:nvSpPr>
      <dsp:spPr>
        <a:xfrm>
          <a:off x="6112345" y="373399"/>
          <a:ext cx="1942687" cy="65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/>
            <a:t>DNS Recording</a:t>
          </a:r>
        </a:p>
      </dsp:txBody>
      <dsp:txXfrm>
        <a:off x="6112345" y="373399"/>
        <a:ext cx="1942687" cy="657400"/>
      </dsp:txXfrm>
    </dsp:sp>
    <dsp:sp modelId="{AB91B78A-311F-4E79-8717-910B48F4DAD8}">
      <dsp:nvSpPr>
        <dsp:cNvPr id="0" name=""/>
        <dsp:cNvSpPr/>
      </dsp:nvSpPr>
      <dsp:spPr>
        <a:xfrm>
          <a:off x="195694" y="1493626"/>
          <a:ext cx="657400" cy="6574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1424E7-6B50-4858-B64F-80B973F741BC}">
      <dsp:nvSpPr>
        <dsp:cNvPr id="0" name=""/>
        <dsp:cNvSpPr/>
      </dsp:nvSpPr>
      <dsp:spPr>
        <a:xfrm>
          <a:off x="333749" y="1631680"/>
          <a:ext cx="381292" cy="3812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91346B-58BF-425A-8EA2-89857836EBA6}">
      <dsp:nvSpPr>
        <dsp:cNvPr id="0" name=""/>
        <dsp:cNvSpPr/>
      </dsp:nvSpPr>
      <dsp:spPr>
        <a:xfrm>
          <a:off x="993967" y="1493626"/>
          <a:ext cx="1549587" cy="65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/>
            <a:t>Internet Routing</a:t>
          </a:r>
        </a:p>
      </dsp:txBody>
      <dsp:txXfrm>
        <a:off x="993967" y="1493626"/>
        <a:ext cx="1549587" cy="657400"/>
      </dsp:txXfrm>
    </dsp:sp>
    <dsp:sp modelId="{DABB4A33-1998-45C7-9C47-8777CFD0DB0A}">
      <dsp:nvSpPr>
        <dsp:cNvPr id="0" name=""/>
        <dsp:cNvSpPr/>
      </dsp:nvSpPr>
      <dsp:spPr>
        <a:xfrm>
          <a:off x="2813559" y="1493626"/>
          <a:ext cx="657400" cy="6574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04E814-5732-48BA-8E56-DBF3720FC03F}">
      <dsp:nvSpPr>
        <dsp:cNvPr id="0" name=""/>
        <dsp:cNvSpPr/>
      </dsp:nvSpPr>
      <dsp:spPr>
        <a:xfrm>
          <a:off x="2951613" y="1631680"/>
          <a:ext cx="381292" cy="3812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012553-ABFD-4F03-9D2B-9C7E73662A55}">
      <dsp:nvSpPr>
        <dsp:cNvPr id="0" name=""/>
        <dsp:cNvSpPr/>
      </dsp:nvSpPr>
      <dsp:spPr>
        <a:xfrm>
          <a:off x="3611831" y="1493626"/>
          <a:ext cx="1549587" cy="65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/>
            <a:t>Host infrastructure</a:t>
          </a:r>
        </a:p>
      </dsp:txBody>
      <dsp:txXfrm>
        <a:off x="3611831" y="1493626"/>
        <a:ext cx="1549587" cy="657400"/>
      </dsp:txXfrm>
    </dsp:sp>
    <dsp:sp modelId="{333C712E-3514-4409-9D10-D7442ED44A0D}">
      <dsp:nvSpPr>
        <dsp:cNvPr id="0" name=""/>
        <dsp:cNvSpPr/>
      </dsp:nvSpPr>
      <dsp:spPr>
        <a:xfrm>
          <a:off x="5431423" y="1493626"/>
          <a:ext cx="657400" cy="6574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B274EA-D10B-4759-845A-9D5D0F3BF805}">
      <dsp:nvSpPr>
        <dsp:cNvPr id="0" name=""/>
        <dsp:cNvSpPr/>
      </dsp:nvSpPr>
      <dsp:spPr>
        <a:xfrm>
          <a:off x="5569477" y="1631680"/>
          <a:ext cx="381292" cy="3812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7AE8F5-658B-4973-BCC5-A4F8F4BED988}">
      <dsp:nvSpPr>
        <dsp:cNvPr id="0" name=""/>
        <dsp:cNvSpPr/>
      </dsp:nvSpPr>
      <dsp:spPr>
        <a:xfrm>
          <a:off x="6229695" y="1493626"/>
          <a:ext cx="1549587" cy="65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/>
            <a:t>VPS Configuration</a:t>
          </a:r>
        </a:p>
      </dsp:txBody>
      <dsp:txXfrm>
        <a:off x="6229695" y="1493626"/>
        <a:ext cx="1549587" cy="657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5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409b5cd6d9e_3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9" name="Google Shape;179;g409b5cd6d9e_3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B17217B4-F6B6-C682-9C84-255BAEA54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409b5cd6d9e_3_190:notes">
            <a:extLst>
              <a:ext uri="{FF2B5EF4-FFF2-40B4-BE49-F238E27FC236}">
                <a16:creationId xmlns:a16="http://schemas.microsoft.com/office/drawing/2014/main" id="{4B3EB7C0-F946-48CF-C915-80733F2D1C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9" name="Google Shape;179;g409b5cd6d9e_3_190:notes">
            <a:extLst>
              <a:ext uri="{FF2B5EF4-FFF2-40B4-BE49-F238E27FC236}">
                <a16:creationId xmlns:a16="http://schemas.microsoft.com/office/drawing/2014/main" id="{33A03716-4CF3-3B20-67BE-1D35FC03ED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6126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9F958766-79E9-D5C1-CE2C-EF9024AA1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409b5cd6d9e_3_190:notes">
            <a:extLst>
              <a:ext uri="{FF2B5EF4-FFF2-40B4-BE49-F238E27FC236}">
                <a16:creationId xmlns:a16="http://schemas.microsoft.com/office/drawing/2014/main" id="{8B192871-E631-9E32-D754-535E7FCDF0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9" name="Google Shape;179;g409b5cd6d9e_3_190:notes">
            <a:extLst>
              <a:ext uri="{FF2B5EF4-FFF2-40B4-BE49-F238E27FC236}">
                <a16:creationId xmlns:a16="http://schemas.microsoft.com/office/drawing/2014/main" id="{CC3B5154-5A2D-BC75-4B5D-BB9C73123C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70533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99A92CD5-43BB-636C-6C31-8A2373DEE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409b5cd6d9e_3_190:notes">
            <a:extLst>
              <a:ext uri="{FF2B5EF4-FFF2-40B4-BE49-F238E27FC236}">
                <a16:creationId xmlns:a16="http://schemas.microsoft.com/office/drawing/2014/main" id="{60BBAD3A-473A-71B8-1A65-3E054C01AB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9" name="Google Shape;179;g409b5cd6d9e_3_190:notes">
            <a:extLst>
              <a:ext uri="{FF2B5EF4-FFF2-40B4-BE49-F238E27FC236}">
                <a16:creationId xmlns:a16="http://schemas.microsoft.com/office/drawing/2014/main" id="{40941171-9814-8DE3-1067-DC50787FC0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0558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fa432611b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g3fa432611b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409b5cd6d9e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2" name="Google Shape;232;g409b5cd6d9e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Détection : analyse en temps réel du trafic via NetFlow, sFlow, etc. Si trafic suspect détecté → redirection automatique vers des nœuds VAC distribués (aspiration). Objectif : analyse approfondie et filtrage précis.</a:t>
            </a:r>
            <a:br>
              <a:rPr lang="fr"/>
            </a:br>
            <a:r>
              <a:rPr lang="fr"/>
              <a:t>2. Analyse effectuée simultanément dans tous les datacenters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Puissance combinée : plus de 17 Tbps (2021)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Connexions réseau multiples par région + capacité surdimensionnée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Permet de traiter les attaques sans affecter le trafic légitime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3. Mitigation = filtrage du trafic en plusieurs étapes → seul le trafic légitime arrive au serveur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Partie la plus complexe et la plus difficile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Basée sur la technologie ACL, avec innovations sur architecture x86 et puces FPGA ultra-rapides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409b5cd6d9e_3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7" name="Google Shape;247;g409b5cd6d9e_3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B22136F4-6578-692A-079E-020040509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09b5cd6d9e_3_117:notes">
            <a:extLst>
              <a:ext uri="{FF2B5EF4-FFF2-40B4-BE49-F238E27FC236}">
                <a16:creationId xmlns:a16="http://schemas.microsoft.com/office/drawing/2014/main" id="{252A95E4-E5C8-481F-71B2-5251C24F06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9" name="Google Shape;289;g409b5cd6d9e_3_117:notes">
            <a:extLst>
              <a:ext uri="{FF2B5EF4-FFF2-40B4-BE49-F238E27FC236}">
                <a16:creationId xmlns:a16="http://schemas.microsoft.com/office/drawing/2014/main" id="{8AACDF42-ADD3-57A6-3BBA-FB6D415313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40860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68F3E023-C4C2-3AA7-CDE1-4D600285F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09b5cd6d9e_3_117:notes">
            <a:extLst>
              <a:ext uri="{FF2B5EF4-FFF2-40B4-BE49-F238E27FC236}">
                <a16:creationId xmlns:a16="http://schemas.microsoft.com/office/drawing/2014/main" id="{F1A76FBC-385D-A796-156E-585635CDB9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9" name="Google Shape;289;g409b5cd6d9e_3_117:notes">
            <a:extLst>
              <a:ext uri="{FF2B5EF4-FFF2-40B4-BE49-F238E27FC236}">
                <a16:creationId xmlns:a16="http://schemas.microsoft.com/office/drawing/2014/main" id="{945ED607-F32E-9740-C28F-9F18DB6A8C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8304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09b5cd6d9e_3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9" name="Google Shape;289;g409b5cd6d9e_3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9DA552ED-7C66-BA69-FCC7-793F4B72B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09b5cd6d9e_3_117:notes">
            <a:extLst>
              <a:ext uri="{FF2B5EF4-FFF2-40B4-BE49-F238E27FC236}">
                <a16:creationId xmlns:a16="http://schemas.microsoft.com/office/drawing/2014/main" id="{D718D5F8-AE96-1E56-B7A6-604FDBADE7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9" name="Google Shape;289;g409b5cd6d9e_3_117:notes">
            <a:extLst>
              <a:ext uri="{FF2B5EF4-FFF2-40B4-BE49-F238E27FC236}">
                <a16:creationId xmlns:a16="http://schemas.microsoft.com/office/drawing/2014/main" id="{70D4804A-2A78-4BDD-D5B0-EE424406FD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33211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F9654762-44FC-B1BE-D575-431D361DE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09b5cd6d9e_3_117:notes">
            <a:extLst>
              <a:ext uri="{FF2B5EF4-FFF2-40B4-BE49-F238E27FC236}">
                <a16:creationId xmlns:a16="http://schemas.microsoft.com/office/drawing/2014/main" id="{9B08DF6A-8F74-1F50-E01C-88D5697A8F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9" name="Google Shape;289;g409b5cd6d9e_3_117:notes">
            <a:extLst>
              <a:ext uri="{FF2B5EF4-FFF2-40B4-BE49-F238E27FC236}">
                <a16:creationId xmlns:a16="http://schemas.microsoft.com/office/drawing/2014/main" id="{8EB1C164-9974-AF25-704D-BBD39D440A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22843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C46796FE-4F1F-0E2A-CF28-C05C8A434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09b5cd6d9e_3_117:notes">
            <a:extLst>
              <a:ext uri="{FF2B5EF4-FFF2-40B4-BE49-F238E27FC236}">
                <a16:creationId xmlns:a16="http://schemas.microsoft.com/office/drawing/2014/main" id="{E2DBBAB6-3FD2-4B8F-8A60-75175E1C5B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9" name="Google Shape;289;g409b5cd6d9e_3_117:notes">
            <a:extLst>
              <a:ext uri="{FF2B5EF4-FFF2-40B4-BE49-F238E27FC236}">
                <a16:creationId xmlns:a16="http://schemas.microsoft.com/office/drawing/2014/main" id="{49EF2A55-5DC1-2A88-84BA-5D7B3BE60E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40278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6AD3033E-B47F-2BDE-A4D5-D43BBFFA8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09b5cd6d9e_3_117:notes">
            <a:extLst>
              <a:ext uri="{FF2B5EF4-FFF2-40B4-BE49-F238E27FC236}">
                <a16:creationId xmlns:a16="http://schemas.microsoft.com/office/drawing/2014/main" id="{FF8FF2B4-CB23-5090-68EE-48AA566691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9" name="Google Shape;289;g409b5cd6d9e_3_117:notes">
            <a:extLst>
              <a:ext uri="{FF2B5EF4-FFF2-40B4-BE49-F238E27FC236}">
                <a16:creationId xmlns:a16="http://schemas.microsoft.com/office/drawing/2014/main" id="{02D0D495-79E0-B1DA-8446-ECD9A2A830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6895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5C03318B-5E0B-1DF6-CAAC-774AAB140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09b5cd6d9e_3_117:notes">
            <a:extLst>
              <a:ext uri="{FF2B5EF4-FFF2-40B4-BE49-F238E27FC236}">
                <a16:creationId xmlns:a16="http://schemas.microsoft.com/office/drawing/2014/main" id="{9C15915A-0043-19D8-1650-70DAABE093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9" name="Google Shape;289;g409b5cd6d9e_3_117:notes">
            <a:extLst>
              <a:ext uri="{FF2B5EF4-FFF2-40B4-BE49-F238E27FC236}">
                <a16:creationId xmlns:a16="http://schemas.microsoft.com/office/drawing/2014/main" id="{1FB145C4-B4DF-74DB-3BA9-A25518633C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53285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409b5cd6d9e_3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77" name="Google Shape;277;g409b5cd6d9e_3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180130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300303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263832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50482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793565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010736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2075611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400003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1642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598568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45070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47800" y="2828380"/>
            <a:ext cx="5459737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TextBox 8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284583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2481422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9641506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97810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4907890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3668198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4630848"/>
            <a:ext cx="4418351" cy="4911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716" y="1619724"/>
            <a:ext cx="7262622" cy="2832354"/>
          </a:xfrm>
        </p:spPr>
        <p:txBody>
          <a:bodyPr anchor="b"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99734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0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64738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dk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28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2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3312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05621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628" r:id="rId1"/>
    <p:sldLayoutId id="2147484629" r:id="rId2"/>
    <p:sldLayoutId id="2147484630" r:id="rId3"/>
    <p:sldLayoutId id="2147484631" r:id="rId4"/>
    <p:sldLayoutId id="2147484632" r:id="rId5"/>
    <p:sldLayoutId id="2147484633" r:id="rId6"/>
    <p:sldLayoutId id="2147484634" r:id="rId7"/>
    <p:sldLayoutId id="2147484635" r:id="rId8"/>
    <p:sldLayoutId id="2147484636" r:id="rId9"/>
    <p:sldLayoutId id="2147484637" r:id="rId10"/>
    <p:sldLayoutId id="2147484638" r:id="rId11"/>
    <p:sldLayoutId id="2147484639" r:id="rId12"/>
    <p:sldLayoutId id="2147484640" r:id="rId13"/>
    <p:sldLayoutId id="2147484641" r:id="rId14"/>
    <p:sldLayoutId id="2147484642" r:id="rId15"/>
    <p:sldLayoutId id="2147484643" r:id="rId16"/>
    <p:sldLayoutId id="2147484644" r:id="rId17"/>
    <p:sldLayoutId id="2147484645" r:id="rId18"/>
    <p:sldLayoutId id="2147484647" r:id="rId19"/>
    <p:sldLayoutId id="2147484649" r:id="rId20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excalidraw.com/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excalidraw.com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39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593B0D0D-339E-8A37-080D-7310ECCA79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2871" y="3583035"/>
            <a:ext cx="3298371" cy="6460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 defTabSz="457200">
              <a:spcBef>
                <a:spcPts val="1000"/>
              </a:spcBef>
              <a:buNone/>
            </a:pPr>
            <a:r>
              <a:rPr lang="en-US" sz="2000" cap="all" noProof="0" dirty="0">
                <a:solidFill>
                  <a:schemeClr val="accent1"/>
                </a:solidFill>
                <a:sym typeface="Roboto"/>
              </a:rPr>
              <a:t>Raphaël &amp;Dominga</a:t>
            </a:r>
          </a:p>
          <a:p>
            <a:pPr marL="0" indent="0" defTabSz="457200">
              <a:spcBef>
                <a:spcPts val="1000"/>
              </a:spcBef>
              <a:buNone/>
            </a:pPr>
            <a:endParaRPr lang="en-US" sz="2000" cap="all" noProof="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6C6A6E1-07F7-FF21-E5C1-2D16175D7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lvl="0" indent="0" defTabSz="91440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2800" noProof="0">
                <a:solidFill>
                  <a:srgbClr val="FFFFFF"/>
                </a:solidFill>
              </a:rPr>
              <a:pPr lvl="0" indent="0" defTabSz="914400">
                <a:spcBef>
                  <a:spcPts val="0"/>
                </a:spcBef>
                <a:spcAft>
                  <a:spcPts val="600"/>
                </a:spcAft>
                <a:buNone/>
              </a:pPr>
              <a:t>1</a:t>
            </a:fld>
            <a:endParaRPr lang="en-US" sz="2800" noProof="0" dirty="0">
              <a:solidFill>
                <a:srgbClr val="FFFFFF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2FEC6E1-DD06-71A9-A1F2-68902A423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2871" y="1085850"/>
            <a:ext cx="3298371" cy="249718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/>
            <a:r>
              <a:rPr lang="en-US" sz="4500" b="0" i="0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THE JOURNEY TO THE VPS</a:t>
            </a:r>
          </a:p>
        </p:txBody>
      </p:sp>
      <p:pic>
        <p:nvPicPr>
          <p:cNvPr id="6" name="Google Shape;87;p1" title="vps-hosting.png">
            <a:extLst>
              <a:ext uri="{FF2B5EF4-FFF2-40B4-BE49-F238E27FC236}">
                <a16:creationId xmlns:a16="http://schemas.microsoft.com/office/drawing/2014/main" id="{5A123D8B-A18A-B54F-F447-05338164143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8914" y="619582"/>
            <a:ext cx="4884210" cy="2963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1272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27FBD6-FC71-53CC-D588-5204CFBF2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16" y="1085850"/>
            <a:ext cx="5231186" cy="249718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/>
            <a:r>
              <a:rPr lang="en-US" sz="6700" b="0" i="0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113FFC2-C889-5BB1-7AA3-FAE03C20E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6216" y="3583035"/>
            <a:ext cx="5231183" cy="6460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457200">
              <a:spcBef>
                <a:spcPts val="1000"/>
              </a:spcBef>
            </a:pPr>
            <a:endParaRPr lang="en-US" sz="2000" b="0" i="0" kern="1200" cap="all" noProof="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0C25619-67DC-26AD-57F1-BA9F82493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lvl="0" indent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2800" b="0" i="0" kern="1200" noProof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 lvl="0" indent="0">
                <a:spcBef>
                  <a:spcPts val="0"/>
                </a:spcBef>
                <a:spcAft>
                  <a:spcPts val="600"/>
                </a:spcAft>
                <a:buNone/>
              </a:pPr>
              <a:t>2</a:t>
            </a:fld>
            <a:endParaRPr lang="en-US" sz="2800" b="0" i="0" kern="1200" noProof="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244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635145-7288-95F3-6167-917C4F9BD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1"/>
                </a:solidFill>
              </a:rPr>
              <a:t>Summary schema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549A88-4558-6CF0-BDEF-C6A59622A9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b="1" i="1" noProof="0" dirty="0">
                <a:solidFill>
                  <a:schemeClr val="tx1"/>
                </a:solidFill>
              </a:rPr>
              <a:t>Looking for Dominga at work</a:t>
            </a:r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7A059B8-2D00-58A4-3A63-58EDABBFC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z="2800" noProof="0" smtClean="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 sz="2800" noProof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1816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46A236-D687-BDD3-EBB4-A585F40EE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6F6B23A-08CD-C530-9794-35C6AF455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D04FB39-D9DE-E7EA-7E82-BED4143AE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4</a:t>
            </a:fld>
            <a:endParaRPr lang="en-US" noProof="0" dirty="0"/>
          </a:p>
        </p:txBody>
      </p:sp>
      <p:pic>
        <p:nvPicPr>
          <p:cNvPr id="8" name="Image 7">
            <a:hlinkClick r:id="rId2"/>
            <a:extLst>
              <a:ext uri="{FF2B5EF4-FFF2-40B4-BE49-F238E27FC236}">
                <a16:creationId xmlns:a16="http://schemas.microsoft.com/office/drawing/2014/main" id="{BC1C63E6-2577-9B3D-485D-23E664A0E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8779"/>
            <a:ext cx="9144000" cy="485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628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613C9C0A-47AD-49A5-838A-A43281BDC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 7">
            <a:extLst>
              <a:ext uri="{FF2B5EF4-FFF2-40B4-BE49-F238E27FC236}">
                <a16:creationId xmlns:a16="http://schemas.microsoft.com/office/drawing/2014/main" id="{79507746-2C84-4EB6-B021-47E528910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050C09-3039-3114-A31D-9AC470CBA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7" y="471950"/>
            <a:ext cx="6939116" cy="762490"/>
          </a:xfrm>
        </p:spPr>
        <p:txBody>
          <a:bodyPr>
            <a:normAutofit/>
          </a:bodyPr>
          <a:lstStyle/>
          <a:p>
            <a:r>
              <a:rPr lang="en-US" noProof="0" dirty="0">
                <a:solidFill>
                  <a:srgbClr val="EBEBEB"/>
                </a:solidFill>
              </a:rPr>
              <a:t>Summary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0D28F5-B926-4D9B-9413-91E73A4C6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70E75E-229F-9F6F-AEEC-8B9A6C029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405" y="221796"/>
            <a:ext cx="628649" cy="575766"/>
          </a:xfrm>
        </p:spPr>
        <p:txBody>
          <a:bodyPr>
            <a:normAutofit/>
          </a:bodyPr>
          <a:lstStyle/>
          <a:p>
            <a:pPr lvl="0" indent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2800" noProof="0" smtClean="0">
                <a:solidFill>
                  <a:srgbClr val="FFFFFF"/>
                </a:solidFill>
              </a:rPr>
              <a:pPr lvl="0" indent="0">
                <a:spcBef>
                  <a:spcPts val="0"/>
                </a:spcBef>
                <a:spcAft>
                  <a:spcPts val="600"/>
                </a:spcAft>
                <a:buNone/>
              </a:pPr>
              <a:t>5</a:t>
            </a:fld>
            <a:endParaRPr lang="en-US" sz="2800" noProof="0" dirty="0">
              <a:solidFill>
                <a:srgbClr val="FFFFFF"/>
              </a:solidFill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2B3D24C5-CE61-47C8-A0D0-C767528D1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4312" cy="3821950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graphicFrame>
        <p:nvGraphicFramePr>
          <p:cNvPr id="27" name="Espace réservé du contenu 2">
            <a:extLst>
              <a:ext uri="{FF2B5EF4-FFF2-40B4-BE49-F238E27FC236}">
                <a16:creationId xmlns:a16="http://schemas.microsoft.com/office/drawing/2014/main" id="{B2F981C9-6618-0B24-5C1A-ED042B1BED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0240938"/>
              </p:ext>
            </p:extLst>
          </p:nvPr>
        </p:nvGraphicFramePr>
        <p:xfrm>
          <a:off x="486697" y="2107692"/>
          <a:ext cx="8171528" cy="2553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1736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F0C80E-B533-00B4-4B2E-2562A4239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BA440E3-541F-7E95-38AB-C6C48B50F6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960105-6FE1-B5BC-CDEC-38B549DD2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C6DFC35-D47A-208B-E9E7-1E82BE2B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405" y="221796"/>
            <a:ext cx="628649" cy="575766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2800" noProof="0" smtClean="0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6</a:t>
            </a:fld>
            <a:endParaRPr lang="en-US" sz="2800" noProof="0" dirty="0">
              <a:solidFill>
                <a:srgbClr val="FFFFFF"/>
              </a:solidFill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5EB7302B-EBBD-75BB-5236-D519BC977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37E21033-81A6-13C8-720A-A83F0D58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4313" cy="3821950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5" name="Google Shape;114;p2">
            <a:extLst>
              <a:ext uri="{FF2B5EF4-FFF2-40B4-BE49-F238E27FC236}">
                <a16:creationId xmlns:a16="http://schemas.microsoft.com/office/drawing/2014/main" id="{D8706F84-87F8-AC20-CD33-EEE41430161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"/>
          <a:stretch/>
        </p:blipFill>
        <p:spPr>
          <a:xfrm>
            <a:off x="1966439" y="966756"/>
            <a:ext cx="4953296" cy="4176744"/>
          </a:xfrm>
          <a:prstGeom prst="rect">
            <a:avLst/>
          </a:prstGeom>
          <a:noFill/>
          <a:effectLst/>
        </p:spPr>
      </p:pic>
      <p:sp>
        <p:nvSpPr>
          <p:cNvPr id="7" name="Google Shape;138;g409b5cd6d9e_3_82">
            <a:extLst>
              <a:ext uri="{FF2B5EF4-FFF2-40B4-BE49-F238E27FC236}">
                <a16:creationId xmlns:a16="http://schemas.microsoft.com/office/drawing/2014/main" id="{DE683E40-D919-DE1C-8536-8EBF06CEFAE9}"/>
              </a:ext>
            </a:extLst>
          </p:cNvPr>
          <p:cNvSpPr txBox="1">
            <a:spLocks/>
          </p:cNvSpPr>
          <p:nvPr/>
        </p:nvSpPr>
        <p:spPr>
          <a:xfrm>
            <a:off x="189504" y="111207"/>
            <a:ext cx="7421100" cy="785700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</p:spTree>
    <p:extLst>
      <p:ext uri="{BB962C8B-B14F-4D97-AF65-F5344CB8AC3E}">
        <p14:creationId xmlns:p14="http://schemas.microsoft.com/office/powerpoint/2010/main" val="525775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801A38-1A8A-36D3-1F82-56C0BEB22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3117" y="1130638"/>
            <a:ext cx="6619243" cy="1436735"/>
          </a:xfrm>
        </p:spPr>
        <p:txBody>
          <a:bodyPr/>
          <a:lstStyle/>
          <a:p>
            <a:r>
              <a:rPr lang="en-US" sz="3200" noProof="0" dirty="0">
                <a:solidFill>
                  <a:srgbClr val="EBEBEB"/>
                </a:solidFill>
              </a:rPr>
              <a:t>1. DNS Resolver</a:t>
            </a:r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DF1978E-995A-7287-F672-026AB1D1E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C68856B-99FA-DEAE-4CA5-D3164E754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901" y="242402"/>
            <a:ext cx="628649" cy="575765"/>
          </a:xfrm>
        </p:spPr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 sz="2800" noProof="0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47BEE00E-A8FE-C333-0973-1120F71386D5}"/>
              </a:ext>
            </a:extLst>
          </p:cNvPr>
          <p:cNvSpPr/>
          <p:nvPr/>
        </p:nvSpPr>
        <p:spPr>
          <a:xfrm>
            <a:off x="1393875" y="1636785"/>
            <a:ext cx="1280368" cy="1283922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8" name="Rectangle 7" descr="Ordinateur">
            <a:extLst>
              <a:ext uri="{FF2B5EF4-FFF2-40B4-BE49-F238E27FC236}">
                <a16:creationId xmlns:a16="http://schemas.microsoft.com/office/drawing/2014/main" id="{9DB457F2-4A5B-A09F-6E7F-E957B4B88B0B}"/>
              </a:ext>
            </a:extLst>
          </p:cNvPr>
          <p:cNvSpPr>
            <a:spLocks noChangeAspect="1"/>
          </p:cNvSpPr>
          <p:nvPr/>
        </p:nvSpPr>
        <p:spPr>
          <a:xfrm>
            <a:off x="1568143" y="1833567"/>
            <a:ext cx="890358" cy="890358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26963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DCF2C4-193A-CE0E-79B2-8C8BA1128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DNS Resolver Step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3A1FB96-F396-829C-3D32-C22854DFA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8</a:t>
            </a:fld>
            <a:endParaRPr lang="en-US" noProof="0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6B9A7868-C249-7C49-2CF5-9962D08B0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D4C13E8-0C9E-C2A4-6C97-7502CA2CB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070"/>
            <a:ext cx="9144000" cy="480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231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5AFFA9-24AD-34D1-4AE5-2BCEC3E0F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405" y="221796"/>
            <a:ext cx="628649" cy="575766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noProof="0" smtClean="0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9</a:t>
            </a:fld>
            <a:endParaRPr lang="en-US" noProof="0" dirty="0">
              <a:solidFill>
                <a:srgbClr val="FFFFFF"/>
              </a:solidFill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4313" cy="3821950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CE5BB1-E0F4-D9B8-A66F-708F8A005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484" y="339538"/>
            <a:ext cx="6710641" cy="1050398"/>
          </a:xfrm>
        </p:spPr>
        <p:txBody>
          <a:bodyPr anchor="ctr">
            <a:normAutofit/>
          </a:bodyPr>
          <a:lstStyle/>
          <a:p>
            <a:r>
              <a:rPr lang="en-US" noProof="0" dirty="0">
                <a:solidFill>
                  <a:srgbClr val="FFFFFF"/>
                </a:solidFill>
              </a:rPr>
              <a:t>DNS Resolver - Theory</a:t>
            </a:r>
          </a:p>
        </p:txBody>
      </p:sp>
      <p:pic>
        <p:nvPicPr>
          <p:cNvPr id="6" name="Image 5">
            <a:hlinkClick r:id="rId2"/>
            <a:extLst>
              <a:ext uri="{FF2B5EF4-FFF2-40B4-BE49-F238E27FC236}">
                <a16:creationId xmlns:a16="http://schemas.microsoft.com/office/drawing/2014/main" id="{FF93CB50-0F06-51F7-7FB0-203A9BC8E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90" y="1959485"/>
            <a:ext cx="8214408" cy="2614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279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D1492-6484-BFB3-DCBC-16F6AD503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123107-02B2-0878-F401-0B2AF0BAF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DNS Resolver - Theory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8A5E55-960B-FEDC-EF7E-B88256856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FB12298-B0E6-ABB7-A49B-8B7A8B975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10</a:t>
            </a:fld>
            <a:endParaRPr lang="en-US" noProof="0" dirty="0"/>
          </a:p>
        </p:txBody>
      </p:sp>
      <p:sp>
        <p:nvSpPr>
          <p:cNvPr id="138" name="Google Shape;138;g409b5cd6d9e_3_82"/>
          <p:cNvSpPr txBox="1">
            <a:spLocks/>
          </p:cNvSpPr>
          <p:nvPr/>
        </p:nvSpPr>
        <p:spPr>
          <a:xfrm>
            <a:off x="189504" y="111207"/>
            <a:ext cx="7421100" cy="785700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  <p:sp>
        <p:nvSpPr>
          <p:cNvPr id="5" name="Google Shape;136;g409b5cd6d9e_3_82">
            <a:extLst>
              <a:ext uri="{FF2B5EF4-FFF2-40B4-BE49-F238E27FC236}">
                <a16:creationId xmlns:a16="http://schemas.microsoft.com/office/drawing/2014/main" id="{F407CA57-6822-97F2-605F-EF4EEEB6C307}"/>
              </a:ext>
            </a:extLst>
          </p:cNvPr>
          <p:cNvSpPr txBox="1">
            <a:spLocks/>
          </p:cNvSpPr>
          <p:nvPr/>
        </p:nvSpPr>
        <p:spPr>
          <a:xfrm>
            <a:off x="539656" y="1303156"/>
            <a:ext cx="7929260" cy="3619675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r>
              <a:rPr lang="en-US" noProof="0" dirty="0"/>
              <a:t> 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sz="2800" noProof="0" dirty="0">
              <a:solidFill>
                <a:srgbClr val="6AA84F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r>
              <a:rPr lang="en-US" sz="2800" noProof="0" dirty="0">
                <a:solidFill>
                  <a:srgbClr val="6AA84F"/>
                </a:solidFill>
              </a:rPr>
              <a:t>$ </a:t>
            </a:r>
            <a:r>
              <a:rPr lang="en-US" sz="2800" b="1" noProof="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dig +trace </a:t>
            </a:r>
            <a:r>
              <a:rPr lang="en-US" sz="2800" b="1" noProof="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readresolve.tech</a:t>
            </a:r>
            <a:endParaRPr lang="en-US" sz="2800" b="1" noProof="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sz="1350" b="1" noProof="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sz="1350" b="1" noProof="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8256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DC788B-43E5-B3A2-5C3F-F02A77194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085BAA-A27E-34EB-1965-001AB05A7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405" y="221796"/>
            <a:ext cx="628649" cy="575766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noProof="0" smtClean="0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11</a:t>
            </a:fld>
            <a:endParaRPr lang="en-US" noProof="0" dirty="0">
              <a:solidFill>
                <a:srgbClr val="FFFFFF"/>
              </a:solidFill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4313" cy="3821950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FB922C0-9062-981C-5B58-7A13A45B2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484" y="339538"/>
            <a:ext cx="6710641" cy="1050398"/>
          </a:xfrm>
        </p:spPr>
        <p:txBody>
          <a:bodyPr anchor="ctr">
            <a:normAutofit/>
          </a:bodyPr>
          <a:lstStyle/>
          <a:p>
            <a:r>
              <a:rPr lang="en-US" noProof="0" dirty="0">
                <a:solidFill>
                  <a:srgbClr val="FFFFFF"/>
                </a:solidFill>
              </a:rPr>
              <a:t>DNS Resolver - Cache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E94B37-C237-95E8-BA46-3A7857754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484" y="2072640"/>
            <a:ext cx="6709905" cy="2613659"/>
          </a:xfrm>
        </p:spPr>
        <p:txBody>
          <a:bodyPr>
            <a:normAutofit/>
          </a:bodyPr>
          <a:lstStyle/>
          <a:p>
            <a:r>
              <a:rPr lang="en-US" noProof="0" dirty="0"/>
              <a:t>Multiples caches</a:t>
            </a:r>
          </a:p>
          <a:p>
            <a:endParaRPr lang="en-US" noProof="0" dirty="0"/>
          </a:p>
          <a:p>
            <a:r>
              <a:rPr lang="en-US" noProof="0" dirty="0"/>
              <a:t>Shortcuts for DNS lookup</a:t>
            </a:r>
          </a:p>
          <a:p>
            <a:endParaRPr lang="en-US" noProof="0" dirty="0"/>
          </a:p>
          <a:p>
            <a:r>
              <a:rPr lang="en-US" noProof="0" dirty="0"/>
              <a:t>DNS modification takes time</a:t>
            </a:r>
          </a:p>
        </p:txBody>
      </p:sp>
    </p:spTree>
    <p:extLst>
      <p:ext uri="{BB962C8B-B14F-4D97-AF65-F5344CB8AC3E}">
        <p14:creationId xmlns:p14="http://schemas.microsoft.com/office/powerpoint/2010/main" val="2452257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2B533-D54F-50A6-13A0-1ABDE7CEA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11">
            <a:extLst>
              <a:ext uri="{FF2B5EF4-FFF2-40B4-BE49-F238E27FC236}">
                <a16:creationId xmlns:a16="http://schemas.microsoft.com/office/drawing/2014/main" id="{19E19AA3-5E28-8D03-905B-07287A1EAFB9}"/>
              </a:ext>
            </a:extLst>
          </p:cNvPr>
          <p:cNvSpPr/>
          <p:nvPr/>
        </p:nvSpPr>
        <p:spPr>
          <a:xfrm>
            <a:off x="1358146" y="1506532"/>
            <a:ext cx="1160082" cy="1182736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C45195D-6C16-2B4D-EC20-6072D9853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812" y="917135"/>
            <a:ext cx="6619243" cy="1436735"/>
          </a:xfrm>
        </p:spPr>
        <p:txBody>
          <a:bodyPr/>
          <a:lstStyle/>
          <a:p>
            <a:r>
              <a:rPr lang="en-US" noProof="0" dirty="0"/>
              <a:t>2. DNS Recording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1CD009B-6EA8-F22D-0698-5F4ABE189A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148EA7-7BFB-EFC8-B6F5-02586198F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12</a:t>
            </a:fld>
            <a:endParaRPr lang="en-US" noProof="0" dirty="0"/>
          </a:p>
        </p:txBody>
      </p:sp>
      <p:sp>
        <p:nvSpPr>
          <p:cNvPr id="11" name="Rectangle 10" descr="Ordinateur portable">
            <a:extLst>
              <a:ext uri="{FF2B5EF4-FFF2-40B4-BE49-F238E27FC236}">
                <a16:creationId xmlns:a16="http://schemas.microsoft.com/office/drawing/2014/main" id="{C3CD904C-A1A1-CCA1-1FC3-0565DDC6EAF6}"/>
              </a:ext>
            </a:extLst>
          </p:cNvPr>
          <p:cNvSpPr>
            <a:spLocks noChangeAspect="1"/>
          </p:cNvSpPr>
          <p:nvPr/>
        </p:nvSpPr>
        <p:spPr>
          <a:xfrm>
            <a:off x="1520239" y="1665589"/>
            <a:ext cx="833613" cy="833613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46172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11">
            <a:extLst>
              <a:ext uri="{FF2B5EF4-FFF2-40B4-BE49-F238E27FC236}">
                <a16:creationId xmlns:a16="http://schemas.microsoft.com/office/drawing/2014/main" id="{74796830-1E21-01C7-6556-EC8E5A0C0E64}"/>
              </a:ext>
            </a:extLst>
          </p:cNvPr>
          <p:cNvSpPr/>
          <p:nvPr/>
        </p:nvSpPr>
        <p:spPr>
          <a:xfrm>
            <a:off x="1358146" y="1506532"/>
            <a:ext cx="1160082" cy="1182736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29A4DB6-A7C6-7279-4424-646F52DFA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812" y="917135"/>
            <a:ext cx="6619243" cy="1436735"/>
          </a:xfrm>
        </p:spPr>
        <p:txBody>
          <a:bodyPr/>
          <a:lstStyle/>
          <a:p>
            <a:r>
              <a:rPr lang="en-US" noProof="0" dirty="0"/>
              <a:t>DNS Recording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949C80B-0C48-16F1-830A-8D63C0D59D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F5CF8F8-D34F-9670-C833-B09B68E04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13</a:t>
            </a:fld>
            <a:endParaRPr lang="en-US" noProof="0" dirty="0"/>
          </a:p>
        </p:txBody>
      </p:sp>
      <p:sp>
        <p:nvSpPr>
          <p:cNvPr id="11" name="Rectangle 10" descr="Ordinateur portable">
            <a:extLst>
              <a:ext uri="{FF2B5EF4-FFF2-40B4-BE49-F238E27FC236}">
                <a16:creationId xmlns:a16="http://schemas.microsoft.com/office/drawing/2014/main" id="{3B8D75AA-322B-C2A8-14D2-4083EB7FA83F}"/>
              </a:ext>
            </a:extLst>
          </p:cNvPr>
          <p:cNvSpPr>
            <a:spLocks noChangeAspect="1"/>
          </p:cNvSpPr>
          <p:nvPr/>
        </p:nvSpPr>
        <p:spPr>
          <a:xfrm>
            <a:off x="1520239" y="1665589"/>
            <a:ext cx="833613" cy="833613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043463C-57F2-33DA-36F2-1824984E3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1992"/>
            <a:ext cx="9144000" cy="4915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52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7856FF-C2CD-D326-6D49-7538ACEDE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7">
            <a:extLst>
              <a:ext uri="{FF2B5EF4-FFF2-40B4-BE49-F238E27FC236}">
                <a16:creationId xmlns:a16="http://schemas.microsoft.com/office/drawing/2014/main" id="{2C480BC8-9D9D-E88B-453A-4CBC94A87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2723CE8-EAE5-77D9-EDFC-AEF3C297B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7" y="471950"/>
            <a:ext cx="6939116" cy="762490"/>
          </a:xfrm>
        </p:spPr>
        <p:txBody>
          <a:bodyPr>
            <a:normAutofit/>
          </a:bodyPr>
          <a:lstStyle/>
          <a:p>
            <a:r>
              <a:rPr lang="en-US" noProof="0" dirty="0"/>
              <a:t>DNS Recording : Type of Records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343C59-C88B-AE1F-2088-49E141386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405" y="221796"/>
            <a:ext cx="628649" cy="575766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noProof="0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14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D230FD-90CE-30E2-842E-BFC8DAF4F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43223"/>
            <a:ext cx="9144313" cy="22002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D3BF6A9A-414A-6ACE-A245-3C16611CA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3772" cy="2101850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6" name="Google Shape;160;g409b74f678e_0_35">
            <a:extLst>
              <a:ext uri="{FF2B5EF4-FFF2-40B4-BE49-F238E27FC236}">
                <a16:creationId xmlns:a16="http://schemas.microsoft.com/office/drawing/2014/main" id="{A38D3182-77C8-F97B-9B3A-52A501A8E1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426" t="12034" r="2784"/>
          <a:stretch/>
        </p:blipFill>
        <p:spPr>
          <a:xfrm>
            <a:off x="1931350" y="1691800"/>
            <a:ext cx="4762900" cy="3451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9344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9B42A6-CB30-196D-D827-BE793BEC2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7">
            <a:extLst>
              <a:ext uri="{FF2B5EF4-FFF2-40B4-BE49-F238E27FC236}">
                <a16:creationId xmlns:a16="http://schemas.microsoft.com/office/drawing/2014/main" id="{70B343FF-2E23-43A4-A06E-58C732FF5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EBF6BB1-9FB7-0E83-8563-585CD20E8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7" y="471950"/>
            <a:ext cx="6939116" cy="762490"/>
          </a:xfrm>
        </p:spPr>
        <p:txBody>
          <a:bodyPr>
            <a:normAutofit/>
          </a:bodyPr>
          <a:lstStyle/>
          <a:p>
            <a:r>
              <a:rPr lang="en-US" noProof="0" dirty="0"/>
              <a:t>DNS Recording : Host records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795EF5D-1C3F-26BB-7928-1A4625112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405" y="221796"/>
            <a:ext cx="628649" cy="575766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15</a:t>
            </a:fld>
            <a:endParaRPr lang="en-US" sz="2800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471E06-C9EC-4B3D-9080-2D75FF3AF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43223"/>
            <a:ext cx="9144313" cy="22002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6AF66A71-3CC4-4EE2-A759-0F0ACE6C4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3772" cy="2101850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7" name="Google Shape;153;g409b74f678e_0_12">
            <a:extLst>
              <a:ext uri="{FF2B5EF4-FFF2-40B4-BE49-F238E27FC236}">
                <a16:creationId xmlns:a16="http://schemas.microsoft.com/office/drawing/2014/main" id="{18DCB5FC-50E1-BCD7-049B-BD6CBEE721DC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/>
          <a:srcRect t="21297"/>
          <a:stretch/>
        </p:blipFill>
        <p:spPr>
          <a:xfrm>
            <a:off x="2106756" y="1743194"/>
            <a:ext cx="4930260" cy="3240018"/>
          </a:xfrm>
          <a:prstGeom prst="rect">
            <a:avLst/>
          </a:prstGeom>
          <a:noFill/>
          <a:effectLst/>
        </p:spPr>
      </p:pic>
    </p:spTree>
    <p:extLst>
      <p:ext uri="{BB962C8B-B14F-4D97-AF65-F5344CB8AC3E}">
        <p14:creationId xmlns:p14="http://schemas.microsoft.com/office/powerpoint/2010/main" val="3730102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83CA89-F14E-5F1A-B147-D74BED20E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405" y="221796"/>
            <a:ext cx="628649" cy="575766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2800" noProof="0" smtClean="0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16</a:t>
            </a:fld>
            <a:endParaRPr lang="en-US" sz="2800" noProof="0" dirty="0">
              <a:solidFill>
                <a:srgbClr val="FFFFFF"/>
              </a:solidFill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4313" cy="3821950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8737AFF-FC64-AC01-198A-3342F0B1B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484" y="339538"/>
            <a:ext cx="6710641" cy="1050398"/>
          </a:xfrm>
        </p:spPr>
        <p:txBody>
          <a:bodyPr anchor="ctr">
            <a:normAutofit/>
          </a:bodyPr>
          <a:lstStyle/>
          <a:p>
            <a:r>
              <a:rPr lang="en-US" noProof="0" dirty="0">
                <a:solidFill>
                  <a:srgbClr val="FFFFFF"/>
                </a:solidFill>
              </a:rPr>
              <a:t>DNS Recording : TTL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500E8C-C4D7-A940-0CD5-0D55CA7ED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484" y="2072640"/>
            <a:ext cx="6709905" cy="2613659"/>
          </a:xfrm>
        </p:spPr>
        <p:txBody>
          <a:bodyPr>
            <a:normAutofit/>
          </a:bodyPr>
          <a:lstStyle/>
          <a:p>
            <a:endParaRPr lang="en-US" noProof="0" dirty="0"/>
          </a:p>
          <a:p>
            <a:r>
              <a:rPr lang="en-US" noProof="0" dirty="0"/>
              <a:t>Each record has a </a:t>
            </a:r>
            <a:r>
              <a:rPr lang="en-US" b="1" noProof="0" dirty="0"/>
              <a:t>TTL</a:t>
            </a:r>
            <a:r>
              <a:rPr lang="en-US" noProof="0" dirty="0"/>
              <a:t> : </a:t>
            </a:r>
            <a:r>
              <a:rPr lang="en-US" b="1" noProof="0" dirty="0"/>
              <a:t>Time To Live</a:t>
            </a:r>
          </a:p>
          <a:p>
            <a:endParaRPr lang="en-US" noProof="0" dirty="0"/>
          </a:p>
          <a:p>
            <a:r>
              <a:rPr lang="en-US" noProof="0" dirty="0"/>
              <a:t>A TTL affects DNS propagation.</a:t>
            </a:r>
          </a:p>
          <a:p>
            <a:endParaRPr lang="en-US" noProof="0" dirty="0"/>
          </a:p>
          <a:p>
            <a:r>
              <a:rPr lang="en-US" noProof="0" dirty="0"/>
              <a:t>Before an IP switch, the TTL is often lowered in advance</a:t>
            </a:r>
          </a:p>
        </p:txBody>
      </p:sp>
    </p:spTree>
    <p:extLst>
      <p:ext uri="{BB962C8B-B14F-4D97-AF65-F5344CB8AC3E}">
        <p14:creationId xmlns:p14="http://schemas.microsoft.com/office/powerpoint/2010/main" val="4165952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657C570-AC23-1280-160C-A5511CAE6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t>17</a:t>
            </a:fld>
            <a:endParaRPr lang="en-US" sz="2800" noProof="0" dirty="0"/>
          </a:p>
        </p:txBody>
      </p:sp>
      <p:sp>
        <p:nvSpPr>
          <p:cNvPr id="9" name="Google Shape;138;g409b5cd6d9e_3_82">
            <a:extLst>
              <a:ext uri="{FF2B5EF4-FFF2-40B4-BE49-F238E27FC236}">
                <a16:creationId xmlns:a16="http://schemas.microsoft.com/office/drawing/2014/main" id="{358B6CD8-9A2B-3109-1CF8-111E0A0D26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584" y="69375"/>
            <a:ext cx="7053542" cy="728187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  <p:sp>
        <p:nvSpPr>
          <p:cNvPr id="16" name="Google Shape;393;p35">
            <a:extLst>
              <a:ext uri="{FF2B5EF4-FFF2-40B4-BE49-F238E27FC236}">
                <a16:creationId xmlns:a16="http://schemas.microsoft.com/office/drawing/2014/main" id="{0F1121BD-2E93-964E-1F9E-392AFD1FE51F}"/>
              </a:ext>
            </a:extLst>
          </p:cNvPr>
          <p:cNvSpPr txBox="1">
            <a:spLocks/>
          </p:cNvSpPr>
          <p:nvPr/>
        </p:nvSpPr>
        <p:spPr>
          <a:xfrm>
            <a:off x="623654" y="2340825"/>
            <a:ext cx="3297300" cy="4323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>
            <a:lvl1pPr marL="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3429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5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6858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35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0287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3716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7145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0574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4003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7432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spcBef>
                <a:spcPts val="0"/>
              </a:spcBef>
              <a:buSzPts val="1440"/>
            </a:pPr>
            <a:r>
              <a:rPr lang="en-US" noProof="0" dirty="0"/>
              <a:t>Windows OS</a:t>
            </a:r>
          </a:p>
        </p:txBody>
      </p:sp>
      <p:sp>
        <p:nvSpPr>
          <p:cNvPr id="17" name="Google Shape;396;p35">
            <a:extLst>
              <a:ext uri="{FF2B5EF4-FFF2-40B4-BE49-F238E27FC236}">
                <a16:creationId xmlns:a16="http://schemas.microsoft.com/office/drawing/2014/main" id="{2A046A65-8C72-1E89-1D89-BFF425D88407}"/>
              </a:ext>
            </a:extLst>
          </p:cNvPr>
          <p:cNvSpPr txBox="1">
            <a:spLocks/>
          </p:cNvSpPr>
          <p:nvPr/>
        </p:nvSpPr>
        <p:spPr>
          <a:xfrm>
            <a:off x="710025" y="1677268"/>
            <a:ext cx="4683600" cy="610526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35714"/>
              </a:lnSpc>
              <a:spcBef>
                <a:spcPts val="0"/>
              </a:spcBef>
              <a:buSzPts val="1800"/>
              <a:buFont typeface="Wingdings 3" charset="2"/>
              <a:buNone/>
            </a:pPr>
            <a:r>
              <a:rPr lang="en-US" sz="2000" noProof="0" dirty="0">
                <a:solidFill>
                  <a:srgbClr val="B392F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$ dig</a:t>
            </a:r>
            <a:r>
              <a:rPr lang="en-US" sz="2000" noProof="0" dirty="0">
                <a:solidFill>
                  <a:srgbClr val="E1E4E8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r>
              <a:rPr lang="en-US" sz="2000" noProof="0" dirty="0">
                <a:solidFill>
                  <a:srgbClr val="9ECB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A</a:t>
            </a:r>
            <a:r>
              <a:rPr lang="en-US" sz="2000" noProof="0" dirty="0">
                <a:solidFill>
                  <a:srgbClr val="E1E4E8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r>
              <a:rPr lang="en-US" sz="2000" noProof="0" dirty="0" err="1">
                <a:solidFill>
                  <a:srgbClr val="9ECB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readresolve.tech</a:t>
            </a:r>
            <a:endParaRPr lang="en-US" sz="2400" noProof="0" dirty="0">
              <a:latin typeface="Consolas" panose="020B0609020204030204" pitchFamily="49" charset="0"/>
            </a:endParaRPr>
          </a:p>
        </p:txBody>
      </p:sp>
      <p:sp>
        <p:nvSpPr>
          <p:cNvPr id="18" name="Google Shape;397;p35">
            <a:extLst>
              <a:ext uri="{FF2B5EF4-FFF2-40B4-BE49-F238E27FC236}">
                <a16:creationId xmlns:a16="http://schemas.microsoft.com/office/drawing/2014/main" id="{04ADBCDB-DB32-F53B-6017-C68761C2B56C}"/>
              </a:ext>
            </a:extLst>
          </p:cNvPr>
          <p:cNvSpPr txBox="1">
            <a:spLocks/>
          </p:cNvSpPr>
          <p:nvPr/>
        </p:nvSpPr>
        <p:spPr>
          <a:xfrm>
            <a:off x="710025" y="2773125"/>
            <a:ext cx="7378230" cy="17753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sp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35714"/>
              </a:lnSpc>
              <a:spcBef>
                <a:spcPts val="0"/>
              </a:spcBef>
              <a:buClr>
                <a:srgbClr val="000000"/>
              </a:buClr>
              <a:buSzPts val="1050"/>
              <a:buFont typeface="Wingdings 3" charset="2"/>
              <a:buNone/>
            </a:pPr>
            <a:r>
              <a:rPr lang="en-US" sz="2000" noProof="0" dirty="0">
                <a:solidFill>
                  <a:srgbClr val="B392F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$ </a:t>
            </a:r>
            <a:r>
              <a:rPr lang="en-US" sz="2000" noProof="0" dirty="0">
                <a:solidFill>
                  <a:srgbClr val="79B8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Resolve-</a:t>
            </a:r>
            <a:r>
              <a:rPr lang="en-US" sz="2000" noProof="0" dirty="0" err="1">
                <a:solidFill>
                  <a:srgbClr val="79B8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DnsName</a:t>
            </a:r>
            <a:r>
              <a:rPr lang="en-US" sz="2000" noProof="0" dirty="0">
                <a:solidFill>
                  <a:srgbClr val="E1E4E8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r>
              <a:rPr lang="en-US" sz="2000" noProof="0" dirty="0">
                <a:solidFill>
                  <a:srgbClr val="F97583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-</a:t>
            </a:r>
            <a:r>
              <a:rPr lang="en-US" sz="2000" noProof="0" dirty="0">
                <a:solidFill>
                  <a:srgbClr val="E1E4E8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Name </a:t>
            </a:r>
            <a:r>
              <a:rPr lang="en-US" sz="2000" noProof="0" dirty="0">
                <a:solidFill>
                  <a:srgbClr val="9ECB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"</a:t>
            </a:r>
            <a:r>
              <a:rPr lang="en-US" sz="2000" noProof="0" dirty="0" err="1">
                <a:solidFill>
                  <a:srgbClr val="9ECB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readresolve.tech</a:t>
            </a:r>
            <a:r>
              <a:rPr lang="en-US" sz="2000" noProof="0" dirty="0">
                <a:solidFill>
                  <a:srgbClr val="9ECB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"</a:t>
            </a:r>
            <a:r>
              <a:rPr lang="en-US" sz="2000" noProof="0" dirty="0">
                <a:solidFill>
                  <a:srgbClr val="E1E4E8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r>
              <a:rPr lang="en-US" sz="2000" noProof="0" dirty="0">
                <a:solidFill>
                  <a:srgbClr val="F97583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-</a:t>
            </a:r>
            <a:r>
              <a:rPr lang="en-US" sz="2000" noProof="0" dirty="0">
                <a:solidFill>
                  <a:srgbClr val="E1E4E8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Type NS</a:t>
            </a:r>
          </a:p>
          <a:p>
            <a:pPr marL="0" indent="0">
              <a:lnSpc>
                <a:spcPct val="135714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</a:pPr>
            <a:endParaRPr lang="en-US" sz="1400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lnSpc>
                <a:spcPct val="135714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</a:pPr>
            <a:endParaRPr lang="en-US" sz="1400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lnSpc>
                <a:spcPct val="135714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</a:pPr>
            <a:endParaRPr lang="en-US" sz="1400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lnSpc>
                <a:spcPct val="135714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</a:pPr>
            <a:endParaRPr lang="en-US" sz="1400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392;p35">
            <a:extLst>
              <a:ext uri="{FF2B5EF4-FFF2-40B4-BE49-F238E27FC236}">
                <a16:creationId xmlns:a16="http://schemas.microsoft.com/office/drawing/2014/main" id="{71E26C77-70D0-D69B-31AF-385942A216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025" y="1218453"/>
            <a:ext cx="32973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US" noProof="0" dirty="0"/>
              <a:t>Mac &amp; Linux OS</a:t>
            </a:r>
          </a:p>
        </p:txBody>
      </p:sp>
    </p:spTree>
    <p:extLst>
      <p:ext uri="{BB962C8B-B14F-4D97-AF65-F5344CB8AC3E}">
        <p14:creationId xmlns:p14="http://schemas.microsoft.com/office/powerpoint/2010/main" val="2129190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491EC-6CD3-8FDF-61B6-469AD4058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675FA3-48A0-2756-FA10-F201F60C5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812" y="917135"/>
            <a:ext cx="6619243" cy="1436735"/>
          </a:xfrm>
        </p:spPr>
        <p:txBody>
          <a:bodyPr/>
          <a:lstStyle/>
          <a:p>
            <a:r>
              <a:rPr lang="en-US" sz="3200" noProof="0" dirty="0"/>
              <a:t>3. Internet Routing</a:t>
            </a:r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C00BCF-7E8B-5F65-587A-E7C8295D7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60EF02-7AE9-57AD-8A6E-5A73DC748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lang="en-US" sz="2800" noProof="0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DA0A834E-8016-4A27-B66E-92EE08316073}"/>
              </a:ext>
            </a:extLst>
          </p:cNvPr>
          <p:cNvSpPr>
            <a:spLocks noChangeAspect="1"/>
          </p:cNvSpPr>
          <p:nvPr/>
        </p:nvSpPr>
        <p:spPr>
          <a:xfrm>
            <a:off x="1582058" y="1480386"/>
            <a:ext cx="1182914" cy="1182914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6" name="Rectangle 5" descr="Wireless router">
            <a:extLst>
              <a:ext uri="{FF2B5EF4-FFF2-40B4-BE49-F238E27FC236}">
                <a16:creationId xmlns:a16="http://schemas.microsoft.com/office/drawing/2014/main" id="{3317C36E-4B90-B2F8-605D-8DE310D34A19}"/>
              </a:ext>
            </a:extLst>
          </p:cNvPr>
          <p:cNvSpPr>
            <a:spLocks noChangeAspect="1"/>
          </p:cNvSpPr>
          <p:nvPr/>
        </p:nvSpPr>
        <p:spPr>
          <a:xfrm>
            <a:off x="1832429" y="1713031"/>
            <a:ext cx="686090" cy="686090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00702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C85C9-A44E-D632-C2C7-624569029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89BEE2-A801-0F94-252E-2B54BA93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812" y="917135"/>
            <a:ext cx="6619243" cy="1436735"/>
          </a:xfrm>
        </p:spPr>
        <p:txBody>
          <a:bodyPr/>
          <a:lstStyle/>
          <a:p>
            <a:r>
              <a:rPr lang="en-US" sz="3200" noProof="0" dirty="0"/>
              <a:t>Internet Routing</a:t>
            </a:r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D1C3443-A99A-9631-B446-434023650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CA359EC-54EB-222D-4656-5F1991538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19</a:t>
            </a:fld>
            <a:endParaRPr lang="en-US" noProof="0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E266EDB9-2720-671F-E263-FC274E42C418}"/>
              </a:ext>
            </a:extLst>
          </p:cNvPr>
          <p:cNvSpPr>
            <a:spLocks noChangeAspect="1"/>
          </p:cNvSpPr>
          <p:nvPr/>
        </p:nvSpPr>
        <p:spPr>
          <a:xfrm>
            <a:off x="1582058" y="1480386"/>
            <a:ext cx="1182914" cy="1182914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6" name="Rectangle 5" descr="Wireless router">
            <a:extLst>
              <a:ext uri="{FF2B5EF4-FFF2-40B4-BE49-F238E27FC236}">
                <a16:creationId xmlns:a16="http://schemas.microsoft.com/office/drawing/2014/main" id="{F5037809-6E01-7B42-36CC-159EAF8E09D4}"/>
              </a:ext>
            </a:extLst>
          </p:cNvPr>
          <p:cNvSpPr>
            <a:spLocks noChangeAspect="1"/>
          </p:cNvSpPr>
          <p:nvPr/>
        </p:nvSpPr>
        <p:spPr>
          <a:xfrm>
            <a:off x="1832429" y="1713031"/>
            <a:ext cx="686090" cy="686090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7A4859E-C73F-71E1-FB05-BB48118D8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4452"/>
            <a:ext cx="9144000" cy="493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520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Picture 187">
            <a:extLst>
              <a:ext uri="{FF2B5EF4-FFF2-40B4-BE49-F238E27FC236}">
                <a16:creationId xmlns:a16="http://schemas.microsoft.com/office/drawing/2014/main" id="{AA085689-791F-4B8F-9F30-12415B97D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AA3FED7F-6821-47C0-A464-E9278B241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192" name="Oval 191">
            <a:extLst>
              <a:ext uri="{FF2B5EF4-FFF2-40B4-BE49-F238E27FC236}">
                <a16:creationId xmlns:a16="http://schemas.microsoft.com/office/drawing/2014/main" id="{8F54B2FB-3F54-4350-8D1B-F86D677CA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561B34F5-88E5-4711-BC16-3005C29AD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196" name="Picture 195">
            <a:extLst>
              <a:ext uri="{FF2B5EF4-FFF2-40B4-BE49-F238E27FC236}">
                <a16:creationId xmlns:a16="http://schemas.microsoft.com/office/drawing/2014/main" id="{4F3661D0-2268-4D3E-88BA-0647BCBE33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198" name="Rectangle 197">
            <a:extLst>
              <a:ext uri="{FF2B5EF4-FFF2-40B4-BE49-F238E27FC236}">
                <a16:creationId xmlns:a16="http://schemas.microsoft.com/office/drawing/2014/main" id="{DDB56DB5-0324-4F79-9AB8-CB18C1DC8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181" name="Google Shape;181;g409b5cd6d9e_3_190"/>
          <p:cNvSpPr txBox="1">
            <a:spLocks noGrp="1"/>
          </p:cNvSpPr>
          <p:nvPr>
            <p:ph type="title"/>
          </p:nvPr>
        </p:nvSpPr>
        <p:spPr>
          <a:xfrm>
            <a:off x="486697" y="471949"/>
            <a:ext cx="6939116" cy="91798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ct val="111111"/>
            </a:pPr>
            <a:r>
              <a:rPr lang="en-US" sz="4200" noProof="0" dirty="0"/>
              <a:t>Internet Routing : Theory</a:t>
            </a:r>
          </a:p>
        </p:txBody>
      </p:sp>
      <p:sp>
        <p:nvSpPr>
          <p:cNvPr id="183" name="Google Shape;183;g409b5cd6d9e_3_190"/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20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2" name="Google Shape;182;g409b5cd6d9e_3_190"/>
          <p:cNvSpPr txBox="1">
            <a:spLocks noGrp="1"/>
          </p:cNvSpPr>
          <p:nvPr>
            <p:ph type="body" idx="1"/>
          </p:nvPr>
        </p:nvSpPr>
        <p:spPr>
          <a:xfrm>
            <a:off x="3802520" y="2109165"/>
            <a:ext cx="4540189" cy="164440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285750" indent="-2857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600" noProof="0" dirty="0"/>
              <a:t>Autonomous System</a:t>
            </a:r>
          </a:p>
          <a:p>
            <a:pPr marL="0" indent="0" defTabSz="457200">
              <a:lnSpc>
                <a:spcPct val="105000"/>
              </a:lnSpc>
              <a:spcBef>
                <a:spcPts val="1000"/>
              </a:spcBef>
              <a:buSzPct val="80000"/>
              <a:buNone/>
            </a:pPr>
            <a:endParaRPr lang="en-US" sz="1600" noProof="0" dirty="0"/>
          </a:p>
          <a:p>
            <a:pPr marL="285750" indent="-2857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600" noProof="0" dirty="0"/>
              <a:t>Routing table</a:t>
            </a:r>
          </a:p>
        </p:txBody>
      </p:sp>
      <p:pic>
        <p:nvPicPr>
          <p:cNvPr id="2" name="Image 1" descr="Géopolitique du routing - Geode">
            <a:extLst>
              <a:ext uri="{FF2B5EF4-FFF2-40B4-BE49-F238E27FC236}">
                <a16:creationId xmlns:a16="http://schemas.microsoft.com/office/drawing/2014/main" id="{6B34299D-D79E-74C3-2EA2-86F0BC4FCB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358" y="1499730"/>
            <a:ext cx="3145668" cy="307227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6ABF97A-3B78-1D4D-9949-2B2D957AFCB1}"/>
              </a:ext>
            </a:extLst>
          </p:cNvPr>
          <p:cNvSpPr txBox="1"/>
          <p:nvPr/>
        </p:nvSpPr>
        <p:spPr>
          <a:xfrm>
            <a:off x="421227" y="4572000"/>
            <a:ext cx="229101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noProof="0" dirty="0"/>
              <a:t>Source : https://geode.science/geopolitique-du-routing/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180">
          <a:extLst>
            <a:ext uri="{FF2B5EF4-FFF2-40B4-BE49-F238E27FC236}">
              <a16:creationId xmlns:a16="http://schemas.microsoft.com/office/drawing/2014/main" id="{AF1B1D0A-D3C5-2A77-D7D1-BFAEA2396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Picture 187">
            <a:extLst>
              <a:ext uri="{FF2B5EF4-FFF2-40B4-BE49-F238E27FC236}">
                <a16:creationId xmlns:a16="http://schemas.microsoft.com/office/drawing/2014/main" id="{F736EAA4-E7BD-F011-AB11-CBF2E9E48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409DFFAC-A236-FB23-4CE0-4A77EFD9B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192" name="Oval 191">
            <a:extLst>
              <a:ext uri="{FF2B5EF4-FFF2-40B4-BE49-F238E27FC236}">
                <a16:creationId xmlns:a16="http://schemas.microsoft.com/office/drawing/2014/main" id="{B469A313-1E41-5AF5-5BC1-8B7DFBBD1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D7C309DF-F620-CE6E-66AE-3A8E6F7F9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196" name="Picture 195">
            <a:extLst>
              <a:ext uri="{FF2B5EF4-FFF2-40B4-BE49-F238E27FC236}">
                <a16:creationId xmlns:a16="http://schemas.microsoft.com/office/drawing/2014/main" id="{BE5A94CE-7154-1974-607F-B83F09C4D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198" name="Rectangle 197">
            <a:extLst>
              <a:ext uri="{FF2B5EF4-FFF2-40B4-BE49-F238E27FC236}">
                <a16:creationId xmlns:a16="http://schemas.microsoft.com/office/drawing/2014/main" id="{E2C769AE-1E0A-CFC2-EFFE-0E67653DA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181" name="Google Shape;181;g409b5cd6d9e_3_190">
            <a:extLst>
              <a:ext uri="{FF2B5EF4-FFF2-40B4-BE49-F238E27FC236}">
                <a16:creationId xmlns:a16="http://schemas.microsoft.com/office/drawing/2014/main" id="{18D72D7E-4937-52D2-33C6-687DE578D5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697" y="471949"/>
            <a:ext cx="6939116" cy="91798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ct val="111111"/>
            </a:pPr>
            <a:r>
              <a:rPr lang="en-US" sz="4200" noProof="0" dirty="0"/>
              <a:t>Internet Routing : Theory</a:t>
            </a:r>
          </a:p>
        </p:txBody>
      </p:sp>
      <p:sp>
        <p:nvSpPr>
          <p:cNvPr id="183" name="Google Shape;183;g409b5cd6d9e_3_190">
            <a:extLst>
              <a:ext uri="{FF2B5EF4-FFF2-40B4-BE49-F238E27FC236}">
                <a16:creationId xmlns:a16="http://schemas.microsoft.com/office/drawing/2014/main" id="{001A0FA8-8B2D-DC7F-5465-0F3CD74AE5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21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2" name="Google Shape;182;g409b5cd6d9e_3_190">
            <a:extLst>
              <a:ext uri="{FF2B5EF4-FFF2-40B4-BE49-F238E27FC236}">
                <a16:creationId xmlns:a16="http://schemas.microsoft.com/office/drawing/2014/main" id="{C6F5CAE9-092D-92B1-1EC9-A91DB40B36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02520" y="1958743"/>
            <a:ext cx="4540189" cy="204445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285750" indent="-2857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600" noProof="0" dirty="0"/>
              <a:t>BGP : Border Gateway Protocol</a:t>
            </a:r>
          </a:p>
          <a:p>
            <a:pPr marL="742950" lvl="1" indent="-2857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600" noProof="0" dirty="0"/>
              <a:t>Prefix</a:t>
            </a:r>
          </a:p>
          <a:p>
            <a:pPr marL="742950" lvl="1" indent="-2857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600" noProof="0" dirty="0"/>
              <a:t>Highways / Big Operators</a:t>
            </a:r>
          </a:p>
          <a:p>
            <a:pPr marL="742950" lvl="1" indent="-2857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600" noProof="0" dirty="0"/>
              <a:t>Cheapest ways</a:t>
            </a:r>
          </a:p>
        </p:txBody>
      </p:sp>
      <p:pic>
        <p:nvPicPr>
          <p:cNvPr id="2" name="Image 1" descr="Géopolitique du routing - Geode">
            <a:extLst>
              <a:ext uri="{FF2B5EF4-FFF2-40B4-BE49-F238E27FC236}">
                <a16:creationId xmlns:a16="http://schemas.microsoft.com/office/drawing/2014/main" id="{17BF68CA-9E3A-1554-F21D-4DBF61450B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358" y="1499730"/>
            <a:ext cx="3145668" cy="307227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A964448C-7A3C-8F09-AA3D-676F38944B92}"/>
              </a:ext>
            </a:extLst>
          </p:cNvPr>
          <p:cNvSpPr txBox="1"/>
          <p:nvPr/>
        </p:nvSpPr>
        <p:spPr>
          <a:xfrm>
            <a:off x="421227" y="4572000"/>
            <a:ext cx="229101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noProof="0" dirty="0"/>
              <a:t>Source : https://geode.science/geopolitique-du-routing/</a:t>
            </a:r>
          </a:p>
        </p:txBody>
      </p:sp>
    </p:spTree>
    <p:extLst>
      <p:ext uri="{BB962C8B-B14F-4D97-AF65-F5344CB8AC3E}">
        <p14:creationId xmlns:p14="http://schemas.microsoft.com/office/powerpoint/2010/main" val="25656822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180">
          <a:extLst>
            <a:ext uri="{FF2B5EF4-FFF2-40B4-BE49-F238E27FC236}">
              <a16:creationId xmlns:a16="http://schemas.microsoft.com/office/drawing/2014/main" id="{44868F5C-35C9-05E8-4600-4488D7E82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Picture 187">
            <a:extLst>
              <a:ext uri="{FF2B5EF4-FFF2-40B4-BE49-F238E27FC236}">
                <a16:creationId xmlns:a16="http://schemas.microsoft.com/office/drawing/2014/main" id="{4005184C-9AAE-F02B-10CD-C672ABD12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E682B146-C791-5507-DDF8-B33D9F609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192" name="Oval 191">
            <a:extLst>
              <a:ext uri="{FF2B5EF4-FFF2-40B4-BE49-F238E27FC236}">
                <a16:creationId xmlns:a16="http://schemas.microsoft.com/office/drawing/2014/main" id="{C8EAE2E5-55EA-F796-C1B1-802A5B43C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50165D4-9F8E-7493-9819-7DD7ADB0C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196" name="Picture 195">
            <a:extLst>
              <a:ext uri="{FF2B5EF4-FFF2-40B4-BE49-F238E27FC236}">
                <a16:creationId xmlns:a16="http://schemas.microsoft.com/office/drawing/2014/main" id="{D2CCC775-8D89-3F85-DAC9-BC89738DFB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198" name="Rectangle 197">
            <a:extLst>
              <a:ext uri="{FF2B5EF4-FFF2-40B4-BE49-F238E27FC236}">
                <a16:creationId xmlns:a16="http://schemas.microsoft.com/office/drawing/2014/main" id="{79975192-BD4A-AA15-0FD9-BEE718E2F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181" name="Google Shape;181;g409b5cd6d9e_3_190">
            <a:extLst>
              <a:ext uri="{FF2B5EF4-FFF2-40B4-BE49-F238E27FC236}">
                <a16:creationId xmlns:a16="http://schemas.microsoft.com/office/drawing/2014/main" id="{C5E78738-CA45-AF9E-B262-ED6E7F12D4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697" y="471949"/>
            <a:ext cx="6939116" cy="91798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ct val="111111"/>
            </a:pPr>
            <a:r>
              <a:rPr lang="en-US" sz="4200" noProof="0" dirty="0"/>
              <a:t>Internet Routing : Theory</a:t>
            </a:r>
          </a:p>
        </p:txBody>
      </p:sp>
      <p:sp>
        <p:nvSpPr>
          <p:cNvPr id="183" name="Google Shape;183;g409b5cd6d9e_3_190">
            <a:extLst>
              <a:ext uri="{FF2B5EF4-FFF2-40B4-BE49-F238E27FC236}">
                <a16:creationId xmlns:a16="http://schemas.microsoft.com/office/drawing/2014/main" id="{2E9F14F3-B6B4-CFBE-CDF9-A8752B3C50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22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2" name="Google Shape;182;g409b5cd6d9e_3_190">
            <a:extLst>
              <a:ext uri="{FF2B5EF4-FFF2-40B4-BE49-F238E27FC236}">
                <a16:creationId xmlns:a16="http://schemas.microsoft.com/office/drawing/2014/main" id="{9741D037-AE64-FD22-BDC7-51A8A60BA0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02520" y="1976406"/>
            <a:ext cx="4540189" cy="1931495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285750" indent="-2857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600" noProof="0" dirty="0"/>
              <a:t>OSPF : Open Shortest Path First</a:t>
            </a:r>
          </a:p>
          <a:p>
            <a:pPr marL="742950" lvl="1" indent="-2857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600" noProof="0" dirty="0"/>
              <a:t>Suffix</a:t>
            </a:r>
          </a:p>
          <a:p>
            <a:pPr marL="742950" lvl="1" indent="-2857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600" noProof="0" dirty="0"/>
              <a:t>Local ways</a:t>
            </a:r>
          </a:p>
        </p:txBody>
      </p:sp>
      <p:pic>
        <p:nvPicPr>
          <p:cNvPr id="2" name="Image 1" descr="Géopolitique du routing - Geode">
            <a:extLst>
              <a:ext uri="{FF2B5EF4-FFF2-40B4-BE49-F238E27FC236}">
                <a16:creationId xmlns:a16="http://schemas.microsoft.com/office/drawing/2014/main" id="{D71C97ED-65F0-DDCB-AD4F-1C440A34D3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358" y="1499730"/>
            <a:ext cx="3145668" cy="307227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F4F81358-C8EB-5020-2D62-04ECDF6FE068}"/>
              </a:ext>
            </a:extLst>
          </p:cNvPr>
          <p:cNvSpPr txBox="1"/>
          <p:nvPr/>
        </p:nvSpPr>
        <p:spPr>
          <a:xfrm>
            <a:off x="421227" y="4572000"/>
            <a:ext cx="229101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noProof="0" dirty="0"/>
              <a:t>Source : https://geode.science/geopolitique-du-routing/</a:t>
            </a:r>
          </a:p>
        </p:txBody>
      </p:sp>
    </p:spTree>
    <p:extLst>
      <p:ext uri="{BB962C8B-B14F-4D97-AF65-F5344CB8AC3E}">
        <p14:creationId xmlns:p14="http://schemas.microsoft.com/office/powerpoint/2010/main" val="22898679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180">
          <a:extLst>
            <a:ext uri="{FF2B5EF4-FFF2-40B4-BE49-F238E27FC236}">
              <a16:creationId xmlns:a16="http://schemas.microsoft.com/office/drawing/2014/main" id="{5DF8C3EA-75B2-6A55-A236-DF541623D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Picture 187">
            <a:extLst>
              <a:ext uri="{FF2B5EF4-FFF2-40B4-BE49-F238E27FC236}">
                <a16:creationId xmlns:a16="http://schemas.microsoft.com/office/drawing/2014/main" id="{7594FC8B-8CD2-407F-94F1-9C71F5AEC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DBABC971-8D40-4A4F-AC60-28B917278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192" name="Oval 191">
            <a:extLst>
              <a:ext uri="{FF2B5EF4-FFF2-40B4-BE49-F238E27FC236}">
                <a16:creationId xmlns:a16="http://schemas.microsoft.com/office/drawing/2014/main" id="{B9C04DC5-313B-4FE4-B868-5672A3764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791AE23E-90C9-4963-96E2-8DADBFC3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196" name="Picture 195">
            <a:extLst>
              <a:ext uri="{FF2B5EF4-FFF2-40B4-BE49-F238E27FC236}">
                <a16:creationId xmlns:a16="http://schemas.microsoft.com/office/drawing/2014/main" id="{C5F93E90-4379-4AAC-B021-E5FA6D974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198" name="Rectangle 197">
            <a:extLst>
              <a:ext uri="{FF2B5EF4-FFF2-40B4-BE49-F238E27FC236}">
                <a16:creationId xmlns:a16="http://schemas.microsoft.com/office/drawing/2014/main" id="{329FDD08-42D8-4AFF-90E5-5DAA5BC4C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B87A2B17-D3E0-4B38-823F-45312C0B3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9143771" cy="35480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8592A21B-8E82-4396-A130-C7531DF0A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204" name="Freeform 16">
            <a:extLst>
              <a:ext uri="{FF2B5EF4-FFF2-40B4-BE49-F238E27FC236}">
                <a16:creationId xmlns:a16="http://schemas.microsoft.com/office/drawing/2014/main" id="{ACA9027C-9377-4A86-A639-42BA502AD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2815271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 useBgFill="1">
        <p:nvSpPr>
          <p:cNvPr id="206" name="Freeform 5">
            <a:extLst>
              <a:ext uri="{FF2B5EF4-FFF2-40B4-BE49-F238E27FC236}">
                <a16:creationId xmlns:a16="http://schemas.microsoft.com/office/drawing/2014/main" id="{423EDA5B-B414-4C7C-8CBA-3D9D79973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3041649"/>
            <a:ext cx="9143772" cy="2101850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81" name="Google Shape;181;g409b5cd6d9e_3_190">
            <a:extLst>
              <a:ext uri="{FF2B5EF4-FFF2-40B4-BE49-F238E27FC236}">
                <a16:creationId xmlns:a16="http://schemas.microsoft.com/office/drawing/2014/main" id="{50B4B872-8B6F-EBEF-B05E-F34F0FC1D7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7687" y="3640759"/>
            <a:ext cx="6862012" cy="65102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ct val="111111"/>
            </a:pPr>
            <a:r>
              <a:rPr lang="en-US" sz="3300" noProof="0" dirty="0"/>
              <a:t>Internet Routing : Routing table</a:t>
            </a:r>
          </a:p>
        </p:txBody>
      </p:sp>
      <p:pic>
        <p:nvPicPr>
          <p:cNvPr id="2" name="Image 1" descr="Routage sur internet">
            <a:extLst>
              <a:ext uri="{FF2B5EF4-FFF2-40B4-BE49-F238E27FC236}">
                <a16:creationId xmlns:a16="http://schemas.microsoft.com/office/drawing/2014/main" id="{D48FE05F-F9FF-2024-65A8-220E5191DA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593" y="480060"/>
            <a:ext cx="5783273" cy="2468883"/>
          </a:xfrm>
          <a:prstGeom prst="rect">
            <a:avLst/>
          </a:prstGeom>
          <a:effectLst/>
        </p:spPr>
      </p:pic>
      <p:sp>
        <p:nvSpPr>
          <p:cNvPr id="183" name="Google Shape;183;g409b5cd6d9e_3_190">
            <a:extLst>
              <a:ext uri="{FF2B5EF4-FFF2-40B4-BE49-F238E27FC236}">
                <a16:creationId xmlns:a16="http://schemas.microsoft.com/office/drawing/2014/main" id="{FB6734C6-A282-9C69-D2D8-3C8BB9E236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23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2083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E2DDC-B4CA-FDD8-1D8D-5C7EA522F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23EE26-A416-3B5B-337D-C1874E6D1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Mac Linux OS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7A8EF42-7CA6-3F5F-875C-A3207D5DD7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noProof="0" dirty="0"/>
              <a:t>Windows OS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AE4D8B6-580D-E560-0774-19AC33E5B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>
                <a:sym typeface="Roboto"/>
              </a:rPr>
              <a:t>24</a:t>
            </a:fld>
            <a:endParaRPr lang="en-US" sz="2800" noProof="0" dirty="0">
              <a:sym typeface="Roboto"/>
            </a:endParaRPr>
          </a:p>
        </p:txBody>
      </p:sp>
      <p:sp>
        <p:nvSpPr>
          <p:cNvPr id="9" name="Google Shape;138;g409b5cd6d9e_3_82">
            <a:extLst>
              <a:ext uri="{FF2B5EF4-FFF2-40B4-BE49-F238E27FC236}">
                <a16:creationId xmlns:a16="http://schemas.microsoft.com/office/drawing/2014/main" id="{B6D30BEE-12D5-AF85-2377-53124A0E0E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584" y="69376"/>
            <a:ext cx="7053542" cy="664916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  <p:sp>
        <p:nvSpPr>
          <p:cNvPr id="12" name="Google Shape;165;g409b5cd6d9e_3_153">
            <a:extLst>
              <a:ext uri="{FF2B5EF4-FFF2-40B4-BE49-F238E27FC236}">
                <a16:creationId xmlns:a16="http://schemas.microsoft.com/office/drawing/2014/main" id="{DE81D454-0335-7DC0-FF6E-F5E2417372BC}"/>
              </a:ext>
            </a:extLst>
          </p:cNvPr>
          <p:cNvSpPr txBox="1">
            <a:spLocks noGrp="1"/>
          </p:cNvSpPr>
          <p:nvPr>
            <p:ph sz="half" idx="2"/>
          </p:nvPr>
        </p:nvSpPr>
        <p:spPr>
          <a:xfrm>
            <a:off x="827088" y="1885950"/>
            <a:ext cx="3413783" cy="280670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135714"/>
              </a:lnSpc>
              <a:spcBef>
                <a:spcPts val="0"/>
              </a:spcBef>
              <a:buSzPts val="1800"/>
              <a:buNone/>
            </a:pPr>
            <a:r>
              <a:rPr lang="en-US" sz="1650" noProof="0" dirty="0">
                <a:solidFill>
                  <a:srgbClr val="B392F0"/>
                </a:solidFill>
                <a:latin typeface="Courier New"/>
                <a:cs typeface="Courier New"/>
                <a:sym typeface="Courier New"/>
              </a:rPr>
              <a:t>$ ping 54.36.100.9</a:t>
            </a:r>
          </a:p>
          <a:p>
            <a:pPr marL="0" indent="0">
              <a:lnSpc>
                <a:spcPct val="135714"/>
              </a:lnSpc>
              <a:spcBef>
                <a:spcPts val="0"/>
              </a:spcBef>
              <a:buSzPts val="1800"/>
              <a:buNone/>
            </a:pPr>
            <a:endParaRPr lang="en-US" sz="1650" noProof="0" dirty="0">
              <a:solidFill>
                <a:srgbClr val="B392F0"/>
              </a:solidFill>
              <a:latin typeface="Courier New"/>
              <a:cs typeface="Courier New"/>
              <a:sym typeface="Courier New"/>
            </a:endParaRPr>
          </a:p>
          <a:p>
            <a:pPr marL="0" indent="0">
              <a:lnSpc>
                <a:spcPct val="135714"/>
              </a:lnSpc>
              <a:spcBef>
                <a:spcPts val="0"/>
              </a:spcBef>
              <a:buSzPts val="1800"/>
              <a:buNone/>
            </a:pPr>
            <a:r>
              <a:rPr lang="en-US" sz="1650" noProof="0" dirty="0">
                <a:solidFill>
                  <a:srgbClr val="B392F0"/>
                </a:solidFill>
                <a:latin typeface="Courier New"/>
                <a:cs typeface="Courier New"/>
                <a:sym typeface="Courier New"/>
              </a:rPr>
              <a:t>$ traceroute 54.36.100.9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noProof="0" dirty="0"/>
          </a:p>
        </p:txBody>
      </p:sp>
      <p:sp>
        <p:nvSpPr>
          <p:cNvPr id="14" name="Google Shape;168;g409b5cd6d9e_3_153">
            <a:extLst>
              <a:ext uri="{FF2B5EF4-FFF2-40B4-BE49-F238E27FC236}">
                <a16:creationId xmlns:a16="http://schemas.microsoft.com/office/drawing/2014/main" id="{0458080E-2429-B5CF-C9B8-395D2B22FFAC}"/>
              </a:ext>
            </a:extLst>
          </p:cNvPr>
          <p:cNvSpPr txBox="1">
            <a:spLocks noGrp="1"/>
          </p:cNvSpPr>
          <p:nvPr>
            <p:ph sz="quarter" idx="4"/>
          </p:nvPr>
        </p:nvSpPr>
        <p:spPr>
          <a:xfrm>
            <a:off x="4398818" y="1887682"/>
            <a:ext cx="4412673" cy="28112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  <a:tabLst/>
              <a:defRPr/>
            </a:pPr>
            <a:r>
              <a:rPr kumimoji="0" lang="en-US" sz="1850" b="0" i="0" u="none" strike="noStrike" kern="0" cap="none" spc="0" normalizeH="0" baseline="0" noProof="0" dirty="0">
                <a:ln>
                  <a:noFill/>
                </a:ln>
                <a:solidFill>
                  <a:srgbClr val="B392F0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kumimoji="0" lang="en-US" sz="1850" b="0" i="0" u="none" strike="noStrike" kern="0" cap="none" spc="0" normalizeH="0" baseline="0" noProof="0" dirty="0">
                <a:ln>
                  <a:noFill/>
                </a:ln>
                <a:solidFill>
                  <a:srgbClr val="79B8FF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ping 54.36.100.9</a:t>
            </a:r>
            <a:endParaRPr kumimoji="0" lang="en-US" sz="215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sym typeface="Century Gothic"/>
            </a:endParaRPr>
          </a:p>
          <a:p>
            <a:pPr marL="0" marR="0" lvl="0" indent="0" algn="l" defTabSz="914400" rtl="0" eaLnBrk="1" fontAlgn="auto" latinLnBrk="0" hangingPunct="1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tabLst/>
              <a:defRPr/>
            </a:pPr>
            <a:endParaRPr kumimoji="0" lang="en-US" sz="1850" b="0" i="0" u="none" strike="noStrike" kern="0" cap="none" spc="0" normalizeH="0" baseline="0" noProof="0" dirty="0">
              <a:ln>
                <a:noFill/>
              </a:ln>
              <a:solidFill>
                <a:srgbClr val="79B8FF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defTabSz="914400" rtl="0" eaLnBrk="1" fontAlgn="auto" latinLnBrk="0" hangingPunct="1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  <a:tabLst/>
              <a:defRPr/>
            </a:pPr>
            <a:r>
              <a:rPr kumimoji="0" lang="en-US" sz="1850" b="0" i="0" u="none" strike="noStrike" kern="0" cap="none" spc="0" normalizeH="0" baseline="0" noProof="0" dirty="0">
                <a:ln>
                  <a:noFill/>
                </a:ln>
                <a:solidFill>
                  <a:srgbClr val="B392F0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kumimoji="0" lang="en-US" sz="1850" b="0" i="0" u="none" strike="noStrike" kern="0" cap="none" spc="0" normalizeH="0" baseline="0" noProof="0" dirty="0">
                <a:ln>
                  <a:noFill/>
                </a:ln>
                <a:solidFill>
                  <a:srgbClr val="79B8FF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tracert 54.36.100.9</a:t>
            </a:r>
            <a:endParaRPr lang="en-US" sz="1400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75138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EB3A41DE-6392-BDDC-BCC2-859543218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1157C7-DC04-EDDE-C4DA-6D041E22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0952" y="1046477"/>
            <a:ext cx="6619243" cy="1436735"/>
          </a:xfrm>
        </p:spPr>
        <p:txBody>
          <a:bodyPr/>
          <a:lstStyle/>
          <a:p>
            <a:r>
              <a:rPr lang="en-US" sz="3200" noProof="0" dirty="0"/>
              <a:t>4. Host Infrastructure</a:t>
            </a:r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BCA22A8-6773-3242-97E6-9A1D12CDB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OVH : for the case study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5CC3D71-F83E-8E20-6A44-8FA1A84C7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t>25</a:t>
            </a:fld>
            <a:endParaRPr lang="en-US" sz="2800" noProof="0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CF95185-0B05-4896-D604-7F21BECC186D}"/>
              </a:ext>
            </a:extLst>
          </p:cNvPr>
          <p:cNvSpPr>
            <a:spLocks noChangeAspect="1"/>
          </p:cNvSpPr>
          <p:nvPr/>
        </p:nvSpPr>
        <p:spPr>
          <a:xfrm>
            <a:off x="1270000" y="1513639"/>
            <a:ext cx="1301798" cy="1301798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8" name="Rectangle 7" descr="Base de données">
            <a:extLst>
              <a:ext uri="{FF2B5EF4-FFF2-40B4-BE49-F238E27FC236}">
                <a16:creationId xmlns:a16="http://schemas.microsoft.com/office/drawing/2014/main" id="{8411E47B-3830-7E2A-95E9-86C5C9848DFB}"/>
              </a:ext>
            </a:extLst>
          </p:cNvPr>
          <p:cNvSpPr>
            <a:spLocks noChangeAspect="1"/>
          </p:cNvSpPr>
          <p:nvPr/>
        </p:nvSpPr>
        <p:spPr>
          <a:xfrm>
            <a:off x="1543377" y="1775907"/>
            <a:ext cx="755043" cy="755043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389277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BE2D17-B33A-D36F-2E05-D314272A4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9D108-0347-B44B-88A1-618252E38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ECCDD17-B1C8-B345-6BCD-2FD957D3F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71333" y="23191"/>
            <a:ext cx="628649" cy="57576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t>26</a:t>
            </a:fld>
            <a:endParaRPr lang="en-US" sz="2800" noProof="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552EFBD-C4EB-96F2-A54E-E86E1AA78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87777"/>
            <a:ext cx="9144000" cy="485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274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a432611bf_0_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lang="en-US" sz="1800" b="0" i="0" u="none" strike="noStrike" cap="none" noProof="0" dirty="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1" name="Google Shape;481;g3fa432611bf_0_6"/>
          <p:cNvSpPr/>
          <p:nvPr/>
        </p:nvSpPr>
        <p:spPr>
          <a:xfrm>
            <a:off x="7828359" y="0"/>
            <a:ext cx="514500" cy="857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51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sp>
        <p:nvSpPr>
          <p:cNvPr id="482" name="Google Shape;482;g3fa432611bf_0_6"/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entury Gothic"/>
              <a:buNone/>
            </a:pPr>
            <a:fld id="{00000000-1234-1234-1234-123412341234}" type="slidenum">
              <a:rPr lang="en-US" sz="2800" noProof="0" smtClean="0">
                <a:solidFill>
                  <a:srgbClr val="FFFFFF"/>
                </a:solidFill>
              </a:rPr>
              <a:t>27</a:t>
            </a:fld>
            <a:endParaRPr lang="en-US" sz="2800" noProof="0" dirty="0">
              <a:solidFill>
                <a:srgbClr val="FFFFFF"/>
              </a:solidFill>
            </a:endParaRPr>
          </a:p>
        </p:txBody>
      </p:sp>
      <p:sp>
        <p:nvSpPr>
          <p:cNvPr id="483" name="Google Shape;483;g3fa432611bf_0_6"/>
          <p:cNvSpPr/>
          <p:nvPr/>
        </p:nvSpPr>
        <p:spPr>
          <a:xfrm>
            <a:off x="6539954" y="1095172"/>
            <a:ext cx="2604045" cy="619449"/>
          </a:xfrm>
          <a:custGeom>
            <a:avLst/>
            <a:gdLst/>
            <a:ahLst/>
            <a:cxnLst/>
            <a:rect l="l" t="t" r="r" b="b"/>
            <a:pathLst>
              <a:path w="3472060" h="825932" extrusionOk="0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lang="en-US" sz="1800" b="0" i="0" u="none" strike="noStrike" cap="none" noProof="0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4" name="Google Shape;484;g3fa432611bf_0_6"/>
          <p:cNvSpPr/>
          <p:nvPr/>
        </p:nvSpPr>
        <p:spPr>
          <a:xfrm>
            <a:off x="0" y="1321550"/>
            <a:ext cx="9144313" cy="3821950"/>
          </a:xfrm>
          <a:custGeom>
            <a:avLst/>
            <a:gdLst/>
            <a:ahLst/>
            <a:cxnLst/>
            <a:rect l="l" t="t" r="r" b="b"/>
            <a:pathLst>
              <a:path w="12192417" h="5095933" extrusionOk="0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85" name="Google Shape;485;g3fa432611bf_0_6"/>
          <p:cNvSpPr txBox="1">
            <a:spLocks noGrp="1"/>
          </p:cNvSpPr>
          <p:nvPr>
            <p:ph type="title"/>
          </p:nvPr>
        </p:nvSpPr>
        <p:spPr>
          <a:xfrm>
            <a:off x="827484" y="339538"/>
            <a:ext cx="6710700" cy="10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entury Gothic"/>
              <a:buNone/>
            </a:pPr>
            <a:r>
              <a:rPr lang="en-US" noProof="0" dirty="0">
                <a:solidFill>
                  <a:srgbClr val="FFFFFF"/>
                </a:solidFill>
              </a:rPr>
              <a:t>Host Infrastructure : Why ?</a:t>
            </a:r>
            <a:endParaRPr lang="en-US" noProof="0" dirty="0"/>
          </a:p>
        </p:txBody>
      </p:sp>
      <p:sp>
        <p:nvSpPr>
          <p:cNvPr id="486" name="Google Shape;486;g3fa432611bf_0_6"/>
          <p:cNvSpPr txBox="1">
            <a:spLocks noGrp="1"/>
          </p:cNvSpPr>
          <p:nvPr>
            <p:ph type="body" idx="1"/>
          </p:nvPr>
        </p:nvSpPr>
        <p:spPr>
          <a:xfrm>
            <a:off x="827484" y="2072640"/>
            <a:ext cx="6709800" cy="26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buSzPts val="1200"/>
              <a:buFont typeface="Wingdings" panose="05000000000000000000" pitchFamily="2" charset="2"/>
              <a:buChar char="Ø"/>
            </a:pPr>
            <a:r>
              <a:rPr lang="en-US" sz="1600" noProof="0" dirty="0">
                <a:solidFill>
                  <a:schemeClr val="bg1"/>
                </a:solidFill>
              </a:rPr>
              <a:t>Handle hosting multiples website</a:t>
            </a:r>
          </a:p>
          <a:p>
            <a:pPr marL="361950" lvl="0" indent="-285750">
              <a:buSzPts val="1200"/>
              <a:buFont typeface="Wingdings" panose="05000000000000000000" pitchFamily="2" charset="2"/>
              <a:buChar char="Ø"/>
            </a:pPr>
            <a:endParaRPr lang="en-US" sz="1600" noProof="0" dirty="0">
              <a:solidFill>
                <a:schemeClr val="bg1"/>
              </a:solidFill>
            </a:endParaRPr>
          </a:p>
          <a:p>
            <a:pPr lvl="0">
              <a:buSzPts val="1200"/>
              <a:buFont typeface="Wingdings" panose="05000000000000000000" pitchFamily="2" charset="2"/>
              <a:buChar char="Ø"/>
            </a:pPr>
            <a:r>
              <a:rPr lang="en-US" sz="1600" noProof="0" dirty="0">
                <a:solidFill>
                  <a:schemeClr val="bg1"/>
                </a:solidFill>
              </a:rPr>
              <a:t>Prevent Cyber-attack</a:t>
            </a:r>
          </a:p>
          <a:p>
            <a:pPr marL="361950" lvl="0" indent="-285750">
              <a:buSzPts val="1200"/>
              <a:buFont typeface="Wingdings" panose="05000000000000000000" pitchFamily="2" charset="2"/>
              <a:buChar char="Ø"/>
            </a:pPr>
            <a:endParaRPr lang="en-US" sz="1600" noProof="0" dirty="0">
              <a:solidFill>
                <a:schemeClr val="bg1"/>
              </a:solidFill>
            </a:endParaRPr>
          </a:p>
          <a:p>
            <a:pPr lvl="0">
              <a:buSzPts val="1200"/>
              <a:buFont typeface="Wingdings" panose="05000000000000000000" pitchFamily="2" charset="2"/>
              <a:buChar char="Ø"/>
            </a:pPr>
            <a:r>
              <a:rPr lang="en-US" sz="1600" noProof="0" dirty="0">
                <a:solidFill>
                  <a:schemeClr val="bg1"/>
                </a:solidFill>
              </a:rPr>
              <a:t>One of the simplest attacks : DDoS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78D57C-2056-DB8F-C9E3-CE5477561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is a DDoS attack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FF91DA-1D4A-0DF6-C81B-114D042FF2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7485" y="1316484"/>
            <a:ext cx="3297254" cy="1477116"/>
          </a:xfrm>
        </p:spPr>
        <p:txBody>
          <a:bodyPr/>
          <a:lstStyle/>
          <a:p>
            <a:r>
              <a:rPr lang="en-US" noProof="0" dirty="0"/>
              <a:t>Dos : Deny of Service</a:t>
            </a:r>
          </a:p>
          <a:p>
            <a:pPr lvl="1"/>
            <a:r>
              <a:rPr lang="en-US" noProof="0" dirty="0"/>
              <a:t>disrupts a single service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EE2F1E9-8C75-1B9C-B925-FD622603E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55270" y="1239669"/>
            <a:ext cx="3628512" cy="1863531"/>
          </a:xfrm>
        </p:spPr>
        <p:txBody>
          <a:bodyPr/>
          <a:lstStyle/>
          <a:p>
            <a:r>
              <a:rPr lang="en-US" noProof="0" dirty="0"/>
              <a:t>DDoS : Distributed Deny of Service</a:t>
            </a:r>
          </a:p>
          <a:p>
            <a:pPr lvl="1"/>
            <a:r>
              <a:rPr lang="en-US" noProof="0" dirty="0"/>
              <a:t>makes a service unavailable by flooding it with traffic. </a:t>
            </a:r>
          </a:p>
          <a:p>
            <a:pPr lvl="1"/>
            <a:r>
              <a:rPr lang="en-US" noProof="0" dirty="0"/>
              <a:t>Disrupt operations or extort money.</a:t>
            </a:r>
          </a:p>
          <a:p>
            <a:pPr lvl="1"/>
            <a:r>
              <a:rPr lang="en-US" noProof="0" dirty="0"/>
              <a:t>more powerful, can take down entire infrastructures (including cloud). </a:t>
            </a:r>
          </a:p>
          <a:p>
            <a:pPr lvl="1"/>
            <a:endParaRPr lang="en-US" noProof="0" dirty="0"/>
          </a:p>
          <a:p>
            <a:endParaRPr lang="en-US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FCEE852-9574-09D7-2925-47E966380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noProof="0" dirty="0"/>
              <a:t>28</a:t>
            </a:r>
          </a:p>
        </p:txBody>
      </p:sp>
      <p:pic>
        <p:nvPicPr>
          <p:cNvPr id="12" name="Google Shape;215;g409b5cd6d9e_2_0" title="attaque-d-do-s.png">
            <a:extLst>
              <a:ext uri="{FF2B5EF4-FFF2-40B4-BE49-F238E27FC236}">
                <a16:creationId xmlns:a16="http://schemas.microsoft.com/office/drawing/2014/main" id="{8AB304B0-A77C-985F-AE0E-67030FC0D542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 t="20924"/>
          <a:stretch/>
        </p:blipFill>
        <p:spPr>
          <a:xfrm>
            <a:off x="4303970" y="3073243"/>
            <a:ext cx="3297237" cy="16611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12;g409b5cd6d9e_2_0">
            <a:extLst>
              <a:ext uri="{FF2B5EF4-FFF2-40B4-BE49-F238E27FC236}">
                <a16:creationId xmlns:a16="http://schemas.microsoft.com/office/drawing/2014/main" id="{A267E9F1-1929-AFCC-F3A4-616739EEB154}"/>
              </a:ext>
            </a:extLst>
          </p:cNvPr>
          <p:cNvSpPr/>
          <p:nvPr/>
        </p:nvSpPr>
        <p:spPr>
          <a:xfrm>
            <a:off x="1145020" y="2793600"/>
            <a:ext cx="1256225" cy="599525"/>
          </a:xfrm>
          <a:prstGeom prst="flowChartPunchedTape">
            <a:avLst/>
          </a:prstGeom>
          <a:solidFill>
            <a:srgbClr val="9ECB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1" i="0" u="none" strike="noStrike" cap="none" noProof="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Website outage</a:t>
            </a:r>
            <a:r>
              <a:rPr lang="en-US" sz="1100" b="1" i="0" u="none" strike="noStrike" cap="none" noProof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Google Shape;213;g409b5cd6d9e_2_0">
            <a:extLst>
              <a:ext uri="{FF2B5EF4-FFF2-40B4-BE49-F238E27FC236}">
                <a16:creationId xmlns:a16="http://schemas.microsoft.com/office/drawing/2014/main" id="{72DB560A-174D-EC7A-14A0-05A1F89523DF}"/>
              </a:ext>
            </a:extLst>
          </p:cNvPr>
          <p:cNvSpPr/>
          <p:nvPr/>
        </p:nvSpPr>
        <p:spPr>
          <a:xfrm>
            <a:off x="1184620" y="3992650"/>
            <a:ext cx="1304925" cy="599525"/>
          </a:xfrm>
          <a:prstGeom prst="flowChartPunchedTape">
            <a:avLst/>
          </a:prstGeom>
          <a:solidFill>
            <a:srgbClr val="9ECB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1" i="0" u="none" strike="noStrike" cap="none" noProof="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Chain reaction</a:t>
            </a:r>
            <a:r>
              <a:rPr lang="en-US" sz="1150" b="0" i="0" u="none" strike="noStrike" cap="none" noProof="0" dirty="0">
                <a:solidFill>
                  <a:srgbClr val="0B0B0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Google Shape;214;g409b5cd6d9e_2_0">
            <a:extLst>
              <a:ext uri="{FF2B5EF4-FFF2-40B4-BE49-F238E27FC236}">
                <a16:creationId xmlns:a16="http://schemas.microsoft.com/office/drawing/2014/main" id="{373ECA77-F335-BDA3-8F1C-7ED9F969FE45}"/>
              </a:ext>
            </a:extLst>
          </p:cNvPr>
          <p:cNvSpPr/>
          <p:nvPr/>
        </p:nvSpPr>
        <p:spPr>
          <a:xfrm>
            <a:off x="1145020" y="3393125"/>
            <a:ext cx="1304925" cy="599525"/>
          </a:xfrm>
          <a:prstGeom prst="flowChartPunchedTape">
            <a:avLst/>
          </a:prstGeom>
          <a:solidFill>
            <a:srgbClr val="9ECB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1" i="0" u="none" strike="noStrike" cap="none" noProof="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SLA activation</a:t>
            </a:r>
            <a:r>
              <a:rPr lang="en-US" sz="1100" b="1" i="0" u="none" strike="noStrike" cap="none" noProof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03684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F73037-6735-BB65-7DE6-4B27FDD07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Types of DDoS Attacks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C3DA1D67-C95F-F9D0-19A8-47131264F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29</a:t>
            </a:fld>
            <a:endParaRPr lang="en-US" sz="2800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F9C6C8-2C56-C66E-1EAF-7BD986391F0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02874" y="1189283"/>
            <a:ext cx="2205038" cy="431800"/>
          </a:xfrm>
        </p:spPr>
        <p:txBody>
          <a:bodyPr/>
          <a:lstStyle/>
          <a:p>
            <a:r>
              <a:rPr lang="en-US" noProof="0" dirty="0"/>
              <a:t>Volumetric attack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2510656-46B0-EBAD-9091-45804932AC9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005293" y="1174036"/>
            <a:ext cx="2197100" cy="431800"/>
          </a:xfrm>
        </p:spPr>
        <p:txBody>
          <a:bodyPr/>
          <a:lstStyle/>
          <a:p>
            <a:r>
              <a:rPr lang="en-US" noProof="0" dirty="0"/>
              <a:t>Protocol Attack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5CED2C9D-6C24-5AF8-8AEF-5AA96323C1A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744871" y="1199537"/>
            <a:ext cx="3138922" cy="552450"/>
          </a:xfrm>
        </p:spPr>
        <p:txBody>
          <a:bodyPr/>
          <a:lstStyle/>
          <a:p>
            <a:r>
              <a:rPr lang="en-US" noProof="0" dirty="0"/>
              <a:t>Application-layer (L7) attack</a:t>
            </a:r>
          </a:p>
        </p:txBody>
      </p:sp>
      <p:pic>
        <p:nvPicPr>
          <p:cNvPr id="22" name="Espace réservé pour une image  21">
            <a:extLst>
              <a:ext uri="{FF2B5EF4-FFF2-40B4-BE49-F238E27FC236}">
                <a16:creationId xmlns:a16="http://schemas.microsoft.com/office/drawing/2014/main" id="{0ED12EE1-1E27-8BB0-9D36-B9A8DCCD4D96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2"/>
          <a:srcRect t="11011" b="11011"/>
          <a:stretch>
            <a:fillRect/>
          </a:stretch>
        </p:blipFill>
        <p:spPr>
          <a:xfrm>
            <a:off x="2607912" y="1597258"/>
            <a:ext cx="2948241" cy="153265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4" name="Espace réservé pour une image  23">
            <a:extLst>
              <a:ext uri="{FF2B5EF4-FFF2-40B4-BE49-F238E27FC236}">
                <a16:creationId xmlns:a16="http://schemas.microsoft.com/office/drawing/2014/main" id="{A7E66EBA-21BD-DD25-EBB9-01AD2E375418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/>
          <a:srcRect t="11011" b="11011"/>
          <a:stretch>
            <a:fillRect/>
          </a:stretch>
        </p:blipFill>
        <p:spPr>
          <a:xfrm>
            <a:off x="5816871" y="1718912"/>
            <a:ext cx="2720486" cy="141426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7AE26990-EE03-B32B-5589-3504F4E95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79702" y="1545585"/>
            <a:ext cx="3277057" cy="2191056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7ED58ABF-BE02-64C0-1ED8-E438EE0249A3}"/>
              </a:ext>
            </a:extLst>
          </p:cNvPr>
          <p:cNvSpPr txBox="1"/>
          <p:nvPr/>
        </p:nvSpPr>
        <p:spPr>
          <a:xfrm>
            <a:off x="740871" y="3943963"/>
            <a:ext cx="63642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NZX                               2020         </a:t>
            </a:r>
            <a:r>
              <a:rPr lang="en-US" noProof="0" dirty="0"/>
              <a:t> 3-day outage</a:t>
            </a:r>
          </a:p>
          <a:p>
            <a:r>
              <a:rPr lang="en-US" b="1" noProof="0" dirty="0"/>
              <a:t>Global </a:t>
            </a:r>
            <a:r>
              <a:rPr lang="en-US" b="1" noProof="0" dirty="0" err="1"/>
              <a:t>hyperscaler</a:t>
            </a:r>
            <a:r>
              <a:rPr lang="en-US" b="1" noProof="0" dirty="0"/>
              <a:t>    2020  </a:t>
            </a:r>
            <a:r>
              <a:rPr lang="en-US" noProof="0" dirty="0"/>
              <a:t>        20.6M req/sec</a:t>
            </a:r>
          </a:p>
          <a:p>
            <a:r>
              <a:rPr lang="en-US" b="1" noProof="0" dirty="0"/>
              <a:t>Memcached               2018           </a:t>
            </a:r>
            <a:r>
              <a:rPr lang="en-US" noProof="0" dirty="0"/>
              <a:t>multiple companies hit</a:t>
            </a:r>
          </a:p>
        </p:txBody>
      </p:sp>
    </p:spTree>
    <p:extLst>
      <p:ext uri="{BB962C8B-B14F-4D97-AF65-F5344CB8AC3E}">
        <p14:creationId xmlns:p14="http://schemas.microsoft.com/office/powerpoint/2010/main" val="26557232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522;g409b5cd6d9e_2_10">
            <a:extLst>
              <a:ext uri="{FF2B5EF4-FFF2-40B4-BE49-F238E27FC236}">
                <a16:creationId xmlns:a16="http://schemas.microsoft.com/office/drawing/2014/main" id="{9143BE34-D296-AC0E-8574-25BB44171BE0}"/>
              </a:ext>
            </a:extLst>
          </p:cNvPr>
          <p:cNvSpPr/>
          <p:nvPr/>
        </p:nvSpPr>
        <p:spPr>
          <a:xfrm>
            <a:off x="-2590" y="1123800"/>
            <a:ext cx="9143700" cy="289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" name="Titre 19">
            <a:extLst>
              <a:ext uri="{FF2B5EF4-FFF2-40B4-BE49-F238E27FC236}">
                <a16:creationId xmlns:a16="http://schemas.microsoft.com/office/drawing/2014/main" id="{164AE67C-EA7B-AECB-4233-12526D42D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DDoS Mitigation</a:t>
            </a:r>
          </a:p>
        </p:txBody>
      </p:sp>
      <p:sp>
        <p:nvSpPr>
          <p:cNvPr id="234" name="Google Shape;234;g409b5cd6d9e_2_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30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Google Shape;518;g409b5cd6d9e_2_10">
            <a:extLst>
              <a:ext uri="{FF2B5EF4-FFF2-40B4-BE49-F238E27FC236}">
                <a16:creationId xmlns:a16="http://schemas.microsoft.com/office/drawing/2014/main" id="{E8D309BC-1CB8-A28C-0239-CBCC51ADE8E2}"/>
              </a:ext>
            </a:extLst>
          </p:cNvPr>
          <p:cNvSpPr/>
          <p:nvPr/>
        </p:nvSpPr>
        <p:spPr>
          <a:xfrm>
            <a:off x="6456759" y="1257300"/>
            <a:ext cx="2114700" cy="2114700"/>
          </a:xfrm>
          <a:prstGeom prst="ellipse">
            <a:avLst/>
          </a:prstGeom>
          <a:gradFill>
            <a:gsLst>
              <a:gs pos="0">
                <a:srgbClr val="78C2F1">
                  <a:alpha val="7059"/>
                </a:srgbClr>
              </a:gs>
              <a:gs pos="36000">
                <a:srgbClr val="78C2F1">
                  <a:alpha val="5882"/>
                </a:srgbClr>
              </a:gs>
              <a:gs pos="69000">
                <a:srgbClr val="78C2F1">
                  <a:alpha val="0"/>
                </a:srgbClr>
              </a:gs>
              <a:gs pos="100000">
                <a:srgbClr val="78C2F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Google Shape;524;g409b5cd6d9e_2_10">
            <a:extLst>
              <a:ext uri="{FF2B5EF4-FFF2-40B4-BE49-F238E27FC236}">
                <a16:creationId xmlns:a16="http://schemas.microsoft.com/office/drawing/2014/main" id="{D632B8D9-4034-F00B-5A76-CB25FACD7D9B}"/>
              </a:ext>
            </a:extLst>
          </p:cNvPr>
          <p:cNvSpPr/>
          <p:nvPr/>
        </p:nvSpPr>
        <p:spPr>
          <a:xfrm>
            <a:off x="6539954" y="2815271"/>
            <a:ext cx="2604045" cy="619449"/>
          </a:xfrm>
          <a:custGeom>
            <a:avLst/>
            <a:gdLst/>
            <a:ahLst/>
            <a:cxnLst/>
            <a:rect l="l" t="t" r="r" b="b"/>
            <a:pathLst>
              <a:path w="3472060" h="825932" extrusionOk="0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dk2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4" name="Google Shape;528;g409b5cd6d9e_2_10">
            <a:extLst>
              <a:ext uri="{FF2B5EF4-FFF2-40B4-BE49-F238E27FC236}">
                <a16:creationId xmlns:a16="http://schemas.microsoft.com/office/drawing/2014/main" id="{CB2DB77B-5E31-FA87-CF97-0FE4F70481FE}"/>
              </a:ext>
            </a:extLst>
          </p:cNvPr>
          <p:cNvGrpSpPr/>
          <p:nvPr/>
        </p:nvGrpSpPr>
        <p:grpSpPr>
          <a:xfrm>
            <a:off x="-5479" y="1123800"/>
            <a:ext cx="8925889" cy="3483162"/>
            <a:chOff x="0" y="196776"/>
            <a:chExt cx="8925889" cy="3483162"/>
          </a:xfrm>
        </p:grpSpPr>
        <p:sp>
          <p:nvSpPr>
            <p:cNvPr id="5" name="Google Shape;529;g409b5cd6d9e_2_10">
              <a:extLst>
                <a:ext uri="{FF2B5EF4-FFF2-40B4-BE49-F238E27FC236}">
                  <a16:creationId xmlns:a16="http://schemas.microsoft.com/office/drawing/2014/main" id="{5B9B713A-2099-4F1C-14E5-5FBAABC102FB}"/>
                </a:ext>
              </a:extLst>
            </p:cNvPr>
            <p:cNvSpPr/>
            <p:nvPr/>
          </p:nvSpPr>
          <p:spPr>
            <a:xfrm>
              <a:off x="5384970" y="196888"/>
              <a:ext cx="3105536" cy="669000"/>
            </a:xfrm>
            <a:prstGeom prst="chevron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noProof="0" dirty="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Real mitigation</a:t>
              </a:r>
              <a:endParaRPr lang="en-US" sz="1400" b="0" i="0" u="none" strike="noStrike" cap="none" noProof="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" name="Google Shape;530;g409b5cd6d9e_2_10">
              <a:extLst>
                <a:ext uri="{FF2B5EF4-FFF2-40B4-BE49-F238E27FC236}">
                  <a16:creationId xmlns:a16="http://schemas.microsoft.com/office/drawing/2014/main" id="{0960E1CB-5FA9-0523-922B-0CE1FCA88355}"/>
                </a:ext>
              </a:extLst>
            </p:cNvPr>
            <p:cNvSpPr txBox="1"/>
            <p:nvPr/>
          </p:nvSpPr>
          <p:spPr>
            <a:xfrm>
              <a:off x="5730375" y="1064238"/>
              <a:ext cx="3195514" cy="26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048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lang="en-US" sz="1200" noProof="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multi-stage traffic filtering </a:t>
              </a:r>
            </a:p>
            <a:p>
              <a:pPr marL="457200" marR="0" lvl="0" indent="-3048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lang="en-US" sz="1200" noProof="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only legitimate traffic reaches server</a:t>
              </a:r>
            </a:p>
            <a:p>
              <a:pPr marL="457200" marR="0" lvl="0" indent="-3048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lang="en-US" sz="1200" b="0" i="0" u="none" strike="noStrike" cap="none" noProof="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Most complex and difficult part</a:t>
              </a:r>
            </a:p>
          </p:txBody>
        </p:sp>
        <p:sp>
          <p:nvSpPr>
            <p:cNvPr id="16" name="Google Shape;531;g409b5cd6d9e_2_10">
              <a:extLst>
                <a:ext uri="{FF2B5EF4-FFF2-40B4-BE49-F238E27FC236}">
                  <a16:creationId xmlns:a16="http://schemas.microsoft.com/office/drawing/2014/main" id="{3FBCAA19-E723-4BFC-A91C-82BBDF870377}"/>
                </a:ext>
              </a:extLst>
            </p:cNvPr>
            <p:cNvSpPr/>
            <p:nvPr/>
          </p:nvSpPr>
          <p:spPr>
            <a:xfrm>
              <a:off x="0" y="196990"/>
              <a:ext cx="3276290" cy="669000"/>
            </a:xfrm>
            <a:prstGeom prst="homePlat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noProof="0" dirty="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Analyze and detect</a:t>
              </a:r>
              <a:endParaRPr lang="en-US" sz="1400" b="0" i="0" u="none" strike="noStrike" cap="none" noProof="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" name="Google Shape;532;g409b5cd6d9e_2_10">
              <a:extLst>
                <a:ext uri="{FF2B5EF4-FFF2-40B4-BE49-F238E27FC236}">
                  <a16:creationId xmlns:a16="http://schemas.microsoft.com/office/drawing/2014/main" id="{8FC4F66C-2602-2DF7-9EAD-3060FB999AAB}"/>
                </a:ext>
              </a:extLst>
            </p:cNvPr>
            <p:cNvSpPr txBox="1"/>
            <p:nvPr/>
          </p:nvSpPr>
          <p:spPr>
            <a:xfrm>
              <a:off x="219581" y="1064126"/>
              <a:ext cx="24828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01625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50"/>
                <a:buFont typeface="Roboto"/>
                <a:buChar char="●"/>
              </a:pPr>
              <a:r>
                <a:rPr lang="en-US" sz="1150" b="0" i="0" u="none" strike="noStrike" cap="none" noProof="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Detection</a:t>
              </a:r>
              <a:r>
                <a:rPr lang="en-US" sz="1150" noProof="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</a:p>
            <a:p>
              <a:pPr marL="457200" marR="0" lvl="0" indent="-301625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50"/>
                <a:buFont typeface="Roboto"/>
                <a:buChar char="●"/>
              </a:pPr>
              <a:r>
                <a:rPr lang="en-US" sz="1150" b="0" i="0" u="none" strike="noStrike" cap="none" noProof="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in-depth analysis </a:t>
              </a:r>
              <a:r>
                <a:rPr lang="en-US" sz="1150" noProof="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&amp; </a:t>
              </a:r>
              <a:r>
                <a:rPr lang="en-US" sz="1150" b="0" i="0" u="none" strike="noStrike" cap="none" noProof="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precise filtering</a:t>
              </a:r>
              <a:r>
                <a:rPr lang="en-US" sz="1100" b="0" i="0" u="none" strike="noStrike" cap="none" noProof="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200" b="0" i="0" u="none" strike="noStrike" cap="none" noProof="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" name="Google Shape;533;g409b5cd6d9e_2_10">
              <a:extLst>
                <a:ext uri="{FF2B5EF4-FFF2-40B4-BE49-F238E27FC236}">
                  <a16:creationId xmlns:a16="http://schemas.microsoft.com/office/drawing/2014/main" id="{7052076D-C38E-5B7B-1B3B-1BBAC8F803EA}"/>
                </a:ext>
              </a:extLst>
            </p:cNvPr>
            <p:cNvSpPr/>
            <p:nvPr/>
          </p:nvSpPr>
          <p:spPr>
            <a:xfrm>
              <a:off x="2673594" y="196776"/>
              <a:ext cx="3305700" cy="669000"/>
            </a:xfrm>
            <a:prstGeom prst="chevron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noProof="0" dirty="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Closer view</a:t>
              </a:r>
              <a:endParaRPr lang="en-US" sz="1400" b="0" i="0" u="none" strike="noStrike" cap="none" noProof="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" name="Google Shape;534;g409b5cd6d9e_2_10">
              <a:extLst>
                <a:ext uri="{FF2B5EF4-FFF2-40B4-BE49-F238E27FC236}">
                  <a16:creationId xmlns:a16="http://schemas.microsoft.com/office/drawing/2014/main" id="{5B66B3C2-CC8A-508A-02AD-E293485B9384}"/>
                </a:ext>
              </a:extLst>
            </p:cNvPr>
            <p:cNvSpPr txBox="1"/>
            <p:nvPr/>
          </p:nvSpPr>
          <p:spPr>
            <a:xfrm>
              <a:off x="2834450" y="1064125"/>
              <a:ext cx="29880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048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lang="en-US" sz="1200" b="0" i="0" u="none" strike="noStrike" cap="none" noProof="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Deep analysis </a:t>
              </a:r>
            </a:p>
            <a:p>
              <a:pPr marL="457200" marR="0" lvl="0" indent="-3048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lang="en-US" sz="1200" b="0" i="0" u="none" strike="noStrike" cap="none" noProof="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Combined power</a:t>
              </a:r>
            </a:p>
            <a:p>
              <a:pPr marL="457200" marR="0" lvl="0" indent="-3048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lang="en-US" sz="1200" b="0" i="0" u="none" strike="noStrike" cap="none" noProof="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Multiple network links per region</a:t>
              </a:r>
            </a:p>
            <a:p>
              <a:pPr marL="457200" marR="0" lvl="0" indent="-3048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lang="en-US" sz="1200" b="0" i="0" u="none" strike="noStrike" cap="none" noProof="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Attacks processed without affecting legitimate traffic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E645D-F0CE-7194-583B-B9832ED14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38;g409b5cd6d9e_3_82">
            <a:extLst>
              <a:ext uri="{FF2B5EF4-FFF2-40B4-BE49-F238E27FC236}">
                <a16:creationId xmlns:a16="http://schemas.microsoft.com/office/drawing/2014/main" id="{0F28044E-A19E-DC8D-59F2-A845E58009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2293" y="163366"/>
            <a:ext cx="7053542" cy="692626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D7E0DD3-DC6C-ABC1-22E8-C68D2CF6B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31</a:t>
            </a:fld>
            <a:endParaRPr lang="en-US" sz="2800" noProof="0" dirty="0"/>
          </a:p>
        </p:txBody>
      </p:sp>
      <p:pic>
        <p:nvPicPr>
          <p:cNvPr id="21" name="Espace réservé du contenu 16">
            <a:extLst>
              <a:ext uri="{FF2B5EF4-FFF2-40B4-BE49-F238E27FC236}">
                <a16:creationId xmlns:a16="http://schemas.microsoft.com/office/drawing/2014/main" id="{F87F1619-3F64-7D58-BE0D-348A3B0CB3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5740" y="1073728"/>
            <a:ext cx="5861024" cy="388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2319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7114E-7D51-0CD8-7CAC-E2E4702FB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38;g409b5cd6d9e_3_82">
            <a:extLst>
              <a:ext uri="{FF2B5EF4-FFF2-40B4-BE49-F238E27FC236}">
                <a16:creationId xmlns:a16="http://schemas.microsoft.com/office/drawing/2014/main" id="{9F32DDEE-3791-3525-9A8B-A23B00BC5C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4584" y="152975"/>
            <a:ext cx="7053542" cy="713407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C1E5CF2-E360-2652-5972-369C3DB68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32</a:t>
            </a:fld>
            <a:endParaRPr lang="en-US" sz="2800" noProof="0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0249630-2669-8A4D-BA79-7615FAE3DC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9918" y="1207365"/>
            <a:ext cx="6954488" cy="371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1258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Picture 257">
            <a:extLst>
              <a:ext uri="{FF2B5EF4-FFF2-40B4-BE49-F238E27FC236}">
                <a16:creationId xmlns:a16="http://schemas.microsoft.com/office/drawing/2014/main" id="{87B6323F-75FD-4FFA-950D-6D013A6DC1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260" name="Picture 259">
            <a:extLst>
              <a:ext uri="{FF2B5EF4-FFF2-40B4-BE49-F238E27FC236}">
                <a16:creationId xmlns:a16="http://schemas.microsoft.com/office/drawing/2014/main" id="{DA2C34EF-101A-44FE-8A31-E0A7F4776A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262" name="Oval 261">
            <a:extLst>
              <a:ext uri="{FF2B5EF4-FFF2-40B4-BE49-F238E27FC236}">
                <a16:creationId xmlns:a16="http://schemas.microsoft.com/office/drawing/2014/main" id="{5C86EC89-02DB-4384-8A63-0EFFEFD1B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264" name="Picture 263">
            <a:extLst>
              <a:ext uri="{FF2B5EF4-FFF2-40B4-BE49-F238E27FC236}">
                <a16:creationId xmlns:a16="http://schemas.microsoft.com/office/drawing/2014/main" id="{54BB1565-EB36-4D75-8888-72796286D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266" name="Picture 265">
            <a:extLst>
              <a:ext uri="{FF2B5EF4-FFF2-40B4-BE49-F238E27FC236}">
                <a16:creationId xmlns:a16="http://schemas.microsoft.com/office/drawing/2014/main" id="{871DF8C3-722E-49D1-87D5-E0FB1D640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268" name="Rectangle 267">
            <a:extLst>
              <a:ext uri="{FF2B5EF4-FFF2-40B4-BE49-F238E27FC236}">
                <a16:creationId xmlns:a16="http://schemas.microsoft.com/office/drawing/2014/main" id="{93E59372-1F66-480B-ADD0-8000A0547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249" name="Google Shape;249;g409b5cd6d9e_3_170"/>
          <p:cNvSpPr txBox="1">
            <a:spLocks noGrp="1"/>
          </p:cNvSpPr>
          <p:nvPr>
            <p:ph type="title"/>
          </p:nvPr>
        </p:nvSpPr>
        <p:spPr>
          <a:xfrm>
            <a:off x="196097" y="374991"/>
            <a:ext cx="3935883" cy="1050398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 fontScale="90000"/>
          </a:bodyPr>
          <a:lstStyle/>
          <a:p>
            <a:pPr marL="0" lvl="0" indent="0" defTabSz="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SzPct val="111111"/>
            </a:pPr>
            <a:r>
              <a:rPr lang="en-US" sz="3600" noProof="0" dirty="0"/>
              <a:t>Host Infra : Security</a:t>
            </a:r>
          </a:p>
        </p:txBody>
      </p:sp>
      <p:sp>
        <p:nvSpPr>
          <p:cNvPr id="270" name="Freeform 23">
            <a:extLst>
              <a:ext uri="{FF2B5EF4-FFF2-40B4-BE49-F238E27FC236}">
                <a16:creationId xmlns:a16="http://schemas.microsoft.com/office/drawing/2014/main" id="{2142F58F-1A18-445C-8057-25B9F986C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5515" y="0"/>
            <a:ext cx="419604" cy="2782230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2" name="Freeform 5">
            <a:extLst>
              <a:ext uri="{FF2B5EF4-FFF2-40B4-BE49-F238E27FC236}">
                <a16:creationId xmlns:a16="http://schemas.microsoft.com/office/drawing/2014/main" id="{2C8825F8-2BBE-4F09-844D-BD569EE90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1837933" y="2067482"/>
            <a:ext cx="5143500" cy="1008536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1E0B305D-E4F9-4F9F-81CA-BDFBA88B2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0808" y="0"/>
            <a:ext cx="4573506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52" name="Google Shape;252;g409b5cd6d9e_3_170" title="HCAP.png"/>
          <p:cNvPicPr preferRelativeResize="0"/>
          <p:nvPr/>
        </p:nvPicPr>
        <p:blipFill rotWithShape="1">
          <a:blip r:embed="rId8"/>
          <a:srcRect r="42880"/>
          <a:stretch/>
        </p:blipFill>
        <p:spPr>
          <a:xfrm>
            <a:off x="4423943" y="485773"/>
            <a:ext cx="3357548" cy="2458317"/>
          </a:xfrm>
          <a:prstGeom prst="rect">
            <a:avLst/>
          </a:prstGeom>
          <a:noFill/>
          <a:effectLst/>
        </p:spPr>
      </p:pic>
      <p:sp>
        <p:nvSpPr>
          <p:cNvPr id="276" name="Rectangle 275">
            <a:extLst>
              <a:ext uri="{FF2B5EF4-FFF2-40B4-BE49-F238E27FC236}">
                <a16:creationId xmlns:a16="http://schemas.microsoft.com/office/drawing/2014/main" id="{1D77C917-B31B-4151-9BB3-768748C42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251" name="Google Shape;251;g409b5cd6d9e_3_170"/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t>33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53" name="Google Shape;253;g409b5cd6d9e_3_170" title="1_8_ddos-attack_hcap_0.png"/>
          <p:cNvPicPr preferRelativeResize="0"/>
          <p:nvPr/>
        </p:nvPicPr>
        <p:blipFill rotWithShape="1">
          <a:blip r:embed="rId9"/>
          <a:stretch/>
        </p:blipFill>
        <p:spPr>
          <a:xfrm>
            <a:off x="4210363" y="3093544"/>
            <a:ext cx="4087103" cy="1900502"/>
          </a:xfrm>
          <a:prstGeom prst="rect">
            <a:avLst/>
          </a:prstGeom>
          <a:noFill/>
          <a:effectLst/>
        </p:spPr>
      </p:pic>
      <p:sp>
        <p:nvSpPr>
          <p:cNvPr id="4" name="Google Shape;552;g409b5cd6d9e_3_170">
            <a:extLst>
              <a:ext uri="{FF2B5EF4-FFF2-40B4-BE49-F238E27FC236}">
                <a16:creationId xmlns:a16="http://schemas.microsoft.com/office/drawing/2014/main" id="{E1F8FBBE-62A4-4280-508F-29352D20A2C1}"/>
              </a:ext>
            </a:extLst>
          </p:cNvPr>
          <p:cNvSpPr txBox="1">
            <a:spLocks/>
          </p:cNvSpPr>
          <p:nvPr/>
        </p:nvSpPr>
        <p:spPr>
          <a:xfrm>
            <a:off x="288958" y="1428297"/>
            <a:ext cx="3123860" cy="314661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457200" lvl="0" indent="-3429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Wingdings 3" charset="2"/>
              <a:buChar char="●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914400" lvl="1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○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371600" lvl="2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■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828800" lvl="3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●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286000" lvl="4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○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743200" lvl="5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■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3200400" lvl="6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●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657600" lvl="7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○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4114800" lvl="8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■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indent="-314960">
              <a:spcBef>
                <a:spcPts val="1000"/>
              </a:spcBef>
              <a:buSzPts val="1200"/>
              <a:buFont typeface="Noto Sans Symbols"/>
              <a:buChar char="►"/>
            </a:pPr>
            <a:r>
              <a:rPr lang="en-US" b="1" noProof="0" dirty="0">
                <a:solidFill>
                  <a:srgbClr val="FF0000"/>
                </a:solidFill>
              </a:rPr>
              <a:t>HCAP</a:t>
            </a:r>
            <a:r>
              <a:rPr lang="en-US" noProof="0" dirty="0"/>
              <a:t> : first line of def.</a:t>
            </a:r>
          </a:p>
          <a:p>
            <a:pPr indent="0">
              <a:spcBef>
                <a:spcPts val="1000"/>
              </a:spcBef>
              <a:buFont typeface="Wingdings 3" charset="2"/>
              <a:buNone/>
            </a:pPr>
            <a:endParaRPr lang="en-US" noProof="0" dirty="0"/>
          </a:p>
          <a:p>
            <a:pPr indent="-314960">
              <a:spcBef>
                <a:spcPts val="1000"/>
              </a:spcBef>
              <a:buSzPts val="1200"/>
              <a:buFont typeface="Noto Sans Symbols"/>
              <a:buChar char="►"/>
            </a:pPr>
            <a:r>
              <a:rPr lang="en-US" noProof="0" dirty="0"/>
              <a:t>Offloads datacenter VAC</a:t>
            </a:r>
          </a:p>
          <a:p>
            <a:pPr indent="0">
              <a:spcBef>
                <a:spcPts val="1000"/>
              </a:spcBef>
              <a:buFont typeface="Wingdings 3" charset="2"/>
              <a:buNone/>
            </a:pPr>
            <a:endParaRPr lang="en-US" noProof="0" dirty="0"/>
          </a:p>
          <a:p>
            <a:pPr indent="-314960">
              <a:spcBef>
                <a:spcPts val="1000"/>
              </a:spcBef>
              <a:buSzPts val="1200"/>
              <a:buFont typeface="Noto Sans Symbols"/>
              <a:buChar char="►"/>
            </a:pPr>
            <a:r>
              <a:rPr lang="en-US" noProof="0" dirty="0"/>
              <a:t>Can be rate-limiting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A60F2EB-2D38-505D-D592-8847A0ADD3E0}"/>
              </a:ext>
            </a:extLst>
          </p:cNvPr>
          <p:cNvSpPr txBox="1"/>
          <p:nvPr/>
        </p:nvSpPr>
        <p:spPr>
          <a:xfrm>
            <a:off x="173630" y="4464585"/>
            <a:ext cx="40871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 dirty="0">
                <a:solidFill>
                  <a:srgbClr val="FF0000"/>
                </a:solidFill>
              </a:rPr>
              <a:t>HCAP : </a:t>
            </a:r>
            <a:r>
              <a:rPr lang="en-US" sz="1400" b="1" noProof="0" dirty="0"/>
              <a:t>H</a:t>
            </a:r>
            <a:r>
              <a:rPr lang="en-US" sz="1400" noProof="0" dirty="0"/>
              <a:t>ardware </a:t>
            </a:r>
            <a:r>
              <a:rPr lang="en-US" sz="1400" b="1" noProof="0" dirty="0"/>
              <a:t>C</a:t>
            </a:r>
            <a:r>
              <a:rPr lang="en-US" sz="1400" noProof="0" dirty="0"/>
              <a:t>lient </a:t>
            </a:r>
            <a:r>
              <a:rPr lang="en-US" sz="1400" b="1" noProof="0" dirty="0"/>
              <a:t>A</a:t>
            </a:r>
            <a:r>
              <a:rPr lang="en-US" sz="1400" noProof="0" dirty="0"/>
              <a:t>mplitude </a:t>
            </a:r>
            <a:r>
              <a:rPr lang="en-US" sz="1400" b="1" noProof="0" dirty="0"/>
              <a:t>P</a:t>
            </a:r>
            <a:r>
              <a:rPr lang="en-US" sz="1400" noProof="0" dirty="0"/>
              <a:t>olicer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290">
          <a:extLst>
            <a:ext uri="{FF2B5EF4-FFF2-40B4-BE49-F238E27FC236}">
              <a16:creationId xmlns:a16="http://schemas.microsoft.com/office/drawing/2014/main" id="{97E0D78E-201F-6BE7-6D1B-C818205A9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409b5cd6d9e_3_117">
            <a:extLst>
              <a:ext uri="{FF2B5EF4-FFF2-40B4-BE49-F238E27FC236}">
                <a16:creationId xmlns:a16="http://schemas.microsoft.com/office/drawing/2014/main" id="{0BA2DE50-50F5-571E-694B-71B723C0D5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 fontScale="90000"/>
          </a:bodyPr>
          <a:lstStyle/>
          <a:p>
            <a:pPr lvl="0" defTabSz="457200">
              <a:spcBef>
                <a:spcPct val="0"/>
              </a:spcBef>
              <a:buSzPct val="111111"/>
            </a:pPr>
            <a:r>
              <a:rPr lang="en-US" sz="4200" noProof="0" dirty="0"/>
              <a:t>Host Infra : Backbone routers</a:t>
            </a:r>
          </a:p>
        </p:txBody>
      </p:sp>
      <p:sp>
        <p:nvSpPr>
          <p:cNvPr id="3" name="Google Shape;486;g3fa432611bf_0_6">
            <a:extLst>
              <a:ext uri="{FF2B5EF4-FFF2-40B4-BE49-F238E27FC236}">
                <a16:creationId xmlns:a16="http://schemas.microsoft.com/office/drawing/2014/main" id="{5D16D879-8AF9-BA0A-842B-33B65BEBBC1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buSzPts val="1200"/>
              <a:buFont typeface="Wingdings" panose="05000000000000000000" pitchFamily="2" charset="2"/>
              <a:buChar char="Ø"/>
            </a:pPr>
            <a:endParaRPr lang="en-US" sz="1600" noProof="0" dirty="0">
              <a:solidFill>
                <a:schemeClr val="bg1"/>
              </a:solidFill>
            </a:endParaRPr>
          </a:p>
          <a:p>
            <a:pPr lvl="0">
              <a:buSzPts val="1200"/>
              <a:buFont typeface="Wingdings" panose="05000000000000000000" pitchFamily="2" charset="2"/>
              <a:buChar char="Ø"/>
            </a:pPr>
            <a:r>
              <a:rPr lang="en-US" noProof="0" dirty="0"/>
              <a:t>Transports network traffic </a:t>
            </a:r>
          </a:p>
          <a:p>
            <a:pPr marL="114300" lvl="0" indent="0">
              <a:buSzPts val="1200"/>
              <a:buNone/>
            </a:pPr>
            <a:endParaRPr lang="en-US" noProof="0" dirty="0"/>
          </a:p>
          <a:p>
            <a:pPr lvl="0">
              <a:buSzPts val="1200"/>
              <a:buFont typeface="Wingdings" panose="05000000000000000000" pitchFamily="2" charset="2"/>
              <a:buChar char="Ø"/>
            </a:pPr>
            <a:r>
              <a:rPr lang="en-US" noProof="0" dirty="0"/>
              <a:t>Connects different networks </a:t>
            </a:r>
          </a:p>
          <a:p>
            <a:pPr lvl="0">
              <a:buSzPts val="1200"/>
              <a:buFont typeface="Wingdings" panose="05000000000000000000" pitchFamily="2" charset="2"/>
              <a:buChar char="Ø"/>
            </a:pPr>
            <a:endParaRPr lang="en-US" noProof="0" dirty="0"/>
          </a:p>
          <a:p>
            <a:pPr lvl="0">
              <a:buSzPts val="1200"/>
              <a:buFont typeface="Wingdings" panose="05000000000000000000" pitchFamily="2" charset="2"/>
              <a:buChar char="Ø"/>
            </a:pPr>
            <a:r>
              <a:rPr lang="en-US" noProof="0" dirty="0"/>
              <a:t>Chooses the best path</a:t>
            </a:r>
            <a:endParaRPr lang="en-US" sz="1600" noProof="0" dirty="0"/>
          </a:p>
        </p:txBody>
      </p:sp>
      <p:sp>
        <p:nvSpPr>
          <p:cNvPr id="293" name="Google Shape;293;g409b5cd6d9e_3_117">
            <a:extLst>
              <a:ext uri="{FF2B5EF4-FFF2-40B4-BE49-F238E27FC236}">
                <a16:creationId xmlns:a16="http://schemas.microsoft.com/office/drawing/2014/main" id="{E33B7D19-0840-C94C-F3A4-6623D0D8A72B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34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B82DFF4-6F32-6888-62F9-C61720959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6761" y="1876749"/>
            <a:ext cx="5199995" cy="259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1789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290">
          <a:extLst>
            <a:ext uri="{FF2B5EF4-FFF2-40B4-BE49-F238E27FC236}">
              <a16:creationId xmlns:a16="http://schemas.microsoft.com/office/drawing/2014/main" id="{F97CCD26-D523-3904-0CFB-7B10835AB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Picture 298">
            <a:extLst>
              <a:ext uri="{FF2B5EF4-FFF2-40B4-BE49-F238E27FC236}">
                <a16:creationId xmlns:a16="http://schemas.microsoft.com/office/drawing/2014/main" id="{D71A2872-4D93-5E38-F946-9D2223230A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318" name="Picture 300">
            <a:extLst>
              <a:ext uri="{FF2B5EF4-FFF2-40B4-BE49-F238E27FC236}">
                <a16:creationId xmlns:a16="http://schemas.microsoft.com/office/drawing/2014/main" id="{B780C3C7-F1B8-FF49-7D49-A9D2B6E9A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319" name="Oval 302">
            <a:extLst>
              <a:ext uri="{FF2B5EF4-FFF2-40B4-BE49-F238E27FC236}">
                <a16:creationId xmlns:a16="http://schemas.microsoft.com/office/drawing/2014/main" id="{6A2B5B13-4C24-A9D9-C24B-78DDDB474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320" name="Picture 304">
            <a:extLst>
              <a:ext uri="{FF2B5EF4-FFF2-40B4-BE49-F238E27FC236}">
                <a16:creationId xmlns:a16="http://schemas.microsoft.com/office/drawing/2014/main" id="{1FA04F54-3CD3-B1FC-4FE5-CC5DD32AF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321" name="Picture 306">
            <a:extLst>
              <a:ext uri="{FF2B5EF4-FFF2-40B4-BE49-F238E27FC236}">
                <a16:creationId xmlns:a16="http://schemas.microsoft.com/office/drawing/2014/main" id="{4FB13406-5AD3-89CD-E4B7-826E33A3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322" name="Rectangle 321">
            <a:extLst>
              <a:ext uri="{FF2B5EF4-FFF2-40B4-BE49-F238E27FC236}">
                <a16:creationId xmlns:a16="http://schemas.microsoft.com/office/drawing/2014/main" id="{770DC7C4-8DDF-808C-D191-7AE02207A5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323" name="Freeform 7">
            <a:extLst>
              <a:ext uri="{FF2B5EF4-FFF2-40B4-BE49-F238E27FC236}">
                <a16:creationId xmlns:a16="http://schemas.microsoft.com/office/drawing/2014/main" id="{B9760C5F-B1FF-F06F-05BE-F10166667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91" name="Google Shape;291;g409b5cd6d9e_3_117">
            <a:extLst>
              <a:ext uri="{FF2B5EF4-FFF2-40B4-BE49-F238E27FC236}">
                <a16:creationId xmlns:a16="http://schemas.microsoft.com/office/drawing/2014/main" id="{BA507E2A-1F4C-D55E-11F1-7B90AACF30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697" y="471950"/>
            <a:ext cx="6939116" cy="76249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lvl="0" defTabSz="457200">
              <a:spcBef>
                <a:spcPct val="0"/>
              </a:spcBef>
              <a:buSzPct val="111111"/>
            </a:pPr>
            <a:r>
              <a:rPr lang="en-US" sz="4200" noProof="0" dirty="0"/>
              <a:t>Host Infra : Edge Firewall</a:t>
            </a:r>
          </a:p>
        </p:txBody>
      </p:sp>
      <p:sp>
        <p:nvSpPr>
          <p:cNvPr id="293" name="Google Shape;293;g409b5cd6d9e_3_117">
            <a:extLst>
              <a:ext uri="{FF2B5EF4-FFF2-40B4-BE49-F238E27FC236}">
                <a16:creationId xmlns:a16="http://schemas.microsoft.com/office/drawing/2014/main" id="{AF88D382-B8C4-341E-6C0B-9ACBACD495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35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912C294E-8F2A-DE29-0A79-F119FA7724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43223"/>
            <a:ext cx="9144313" cy="22002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5" name="Freeform 5">
            <a:extLst>
              <a:ext uri="{FF2B5EF4-FFF2-40B4-BE49-F238E27FC236}">
                <a16:creationId xmlns:a16="http://schemas.microsoft.com/office/drawing/2014/main" id="{6BD90C98-9DEF-ADAB-3E2F-2BDDE4AD6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3772" cy="2101850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294" name="Google Shape;294;g409b5cd6d9e_3_117" title="4-ip_edge-firewall.png">
            <a:extLst>
              <a:ext uri="{FF2B5EF4-FFF2-40B4-BE49-F238E27FC236}">
                <a16:creationId xmlns:a16="http://schemas.microsoft.com/office/drawing/2014/main" id="{01F54D57-CAC1-E66D-33AB-6577E41F868A}"/>
              </a:ext>
            </a:extLst>
          </p:cNvPr>
          <p:cNvPicPr preferRelativeResize="0"/>
          <p:nvPr/>
        </p:nvPicPr>
        <p:blipFill rotWithShape="1">
          <a:blip r:embed="rId8"/>
          <a:srcRect t="41401"/>
          <a:stretch/>
        </p:blipFill>
        <p:spPr>
          <a:xfrm>
            <a:off x="1404879" y="1895605"/>
            <a:ext cx="6035448" cy="2756397"/>
          </a:xfrm>
          <a:prstGeom prst="rect">
            <a:avLst/>
          </a:prstGeom>
          <a:noFill/>
          <a:effectLst/>
        </p:spPr>
      </p:pic>
    </p:spTree>
    <p:extLst>
      <p:ext uri="{BB962C8B-B14F-4D97-AF65-F5344CB8AC3E}">
        <p14:creationId xmlns:p14="http://schemas.microsoft.com/office/powerpoint/2010/main" val="9522423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Picture 298">
            <a:extLst>
              <a:ext uri="{FF2B5EF4-FFF2-40B4-BE49-F238E27FC236}">
                <a16:creationId xmlns:a16="http://schemas.microsoft.com/office/drawing/2014/main" id="{7594FC8B-8CD2-407F-94F1-9C71F5AEC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318" name="Picture 300">
            <a:extLst>
              <a:ext uri="{FF2B5EF4-FFF2-40B4-BE49-F238E27FC236}">
                <a16:creationId xmlns:a16="http://schemas.microsoft.com/office/drawing/2014/main" id="{DBABC971-8D40-4A4F-AC60-28B917278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319" name="Oval 302">
            <a:extLst>
              <a:ext uri="{FF2B5EF4-FFF2-40B4-BE49-F238E27FC236}">
                <a16:creationId xmlns:a16="http://schemas.microsoft.com/office/drawing/2014/main" id="{B9C04DC5-313B-4FE4-B868-5672A3764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320" name="Picture 304">
            <a:extLst>
              <a:ext uri="{FF2B5EF4-FFF2-40B4-BE49-F238E27FC236}">
                <a16:creationId xmlns:a16="http://schemas.microsoft.com/office/drawing/2014/main" id="{791AE23E-90C9-4963-96E2-8DADBFC3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321" name="Picture 306">
            <a:extLst>
              <a:ext uri="{FF2B5EF4-FFF2-40B4-BE49-F238E27FC236}">
                <a16:creationId xmlns:a16="http://schemas.microsoft.com/office/drawing/2014/main" id="{C5F93E90-4379-4AAC-B021-E5FA6D974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322" name="Rectangle 321">
            <a:extLst>
              <a:ext uri="{FF2B5EF4-FFF2-40B4-BE49-F238E27FC236}">
                <a16:creationId xmlns:a16="http://schemas.microsoft.com/office/drawing/2014/main" id="{329FDD08-42D8-4AFF-90E5-5DAA5BC4C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323" name="Freeform 7">
            <a:extLst>
              <a:ext uri="{FF2B5EF4-FFF2-40B4-BE49-F238E27FC236}">
                <a16:creationId xmlns:a16="http://schemas.microsoft.com/office/drawing/2014/main" id="{DD540830-1D5B-4124-AD19-E95C33AC2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91" name="Google Shape;291;g409b5cd6d9e_3_117"/>
          <p:cNvSpPr txBox="1">
            <a:spLocks noGrp="1"/>
          </p:cNvSpPr>
          <p:nvPr>
            <p:ph type="title"/>
          </p:nvPr>
        </p:nvSpPr>
        <p:spPr>
          <a:xfrm>
            <a:off x="486697" y="471950"/>
            <a:ext cx="7147158" cy="76249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lvl="0" defTabSz="457200">
              <a:spcBef>
                <a:spcPct val="0"/>
              </a:spcBef>
              <a:buSzPct val="111111"/>
            </a:pPr>
            <a:r>
              <a:rPr lang="en-US" sz="3600" noProof="0" dirty="0"/>
              <a:t>Host Infra : Datacenter routers</a:t>
            </a:r>
          </a:p>
        </p:txBody>
      </p:sp>
      <p:sp>
        <p:nvSpPr>
          <p:cNvPr id="293" name="Google Shape;293;g409b5cd6d9e_3_117"/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36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8B1928F0-389D-4382-8440-F6150A01C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43223"/>
            <a:ext cx="9144313" cy="22002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5" name="Freeform 5">
            <a:extLst>
              <a:ext uri="{FF2B5EF4-FFF2-40B4-BE49-F238E27FC236}">
                <a16:creationId xmlns:a16="http://schemas.microsoft.com/office/drawing/2014/main" id="{DF9B0FBD-51D8-4E3C-9E78-429AE6676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3772" cy="2101850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4380311-2CD8-7D76-5281-39E19310ED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65115" y="1940999"/>
            <a:ext cx="2316139" cy="2316139"/>
          </a:xfrm>
          <a:prstGeom prst="rect">
            <a:avLst/>
          </a:prstGeom>
        </p:spPr>
      </p:pic>
      <p:sp>
        <p:nvSpPr>
          <p:cNvPr id="2" name="Google Shape;486;g3fa432611bf_0_6">
            <a:extLst>
              <a:ext uri="{FF2B5EF4-FFF2-40B4-BE49-F238E27FC236}">
                <a16:creationId xmlns:a16="http://schemas.microsoft.com/office/drawing/2014/main" id="{D2D664A7-C1A2-41FB-363D-13378DF117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5376" y="1958400"/>
            <a:ext cx="6709800" cy="26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buSzPts val="1200"/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 lvl="0">
              <a:buSzPts val="1200"/>
              <a:buFont typeface="Wingdings" panose="05000000000000000000" pitchFamily="2" charset="2"/>
              <a:buChar char="Ø"/>
            </a:pPr>
            <a:r>
              <a:rPr lang="en-US" noProof="0" dirty="0">
                <a:solidFill>
                  <a:schemeClr val="bg1"/>
                </a:solidFill>
              </a:rPr>
              <a:t>Receives incoming traffic </a:t>
            </a:r>
          </a:p>
          <a:p>
            <a:pPr lvl="0">
              <a:buSzPts val="1200"/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 lvl="0">
              <a:buSzPts val="1200"/>
              <a:buFont typeface="Wingdings" panose="05000000000000000000" pitchFamily="2" charset="2"/>
              <a:buChar char="Ø"/>
            </a:pPr>
            <a:r>
              <a:rPr lang="en-US" noProof="0" dirty="0">
                <a:solidFill>
                  <a:schemeClr val="bg1"/>
                </a:solidFill>
              </a:rPr>
              <a:t>Routes traffic internally</a:t>
            </a:r>
          </a:p>
          <a:p>
            <a:pPr lvl="0">
              <a:buSzPts val="1200"/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 lvl="0">
              <a:buSzPts val="1200"/>
              <a:buFont typeface="Wingdings" panose="05000000000000000000" pitchFamily="2" charset="2"/>
              <a:buChar char="Ø"/>
            </a:pPr>
            <a:r>
              <a:rPr lang="en-US" noProof="0" dirty="0">
                <a:solidFill>
                  <a:schemeClr val="bg1"/>
                </a:solidFill>
              </a:rPr>
              <a:t>Connects to servers and VPS</a:t>
            </a:r>
            <a:endParaRPr lang="en-US" sz="1600" noProof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C78E6-55DC-7C91-5565-A03357093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22577C-3502-0F6E-85AC-51EDFF201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6438" y="1088660"/>
            <a:ext cx="6619243" cy="1436735"/>
          </a:xfrm>
        </p:spPr>
        <p:txBody>
          <a:bodyPr/>
          <a:lstStyle/>
          <a:p>
            <a:r>
              <a:rPr lang="en-US" sz="3200" noProof="0" dirty="0"/>
              <a:t>5. VPS Configuration</a:t>
            </a:r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356D1FA-AFA2-3802-BCBA-A7BAC4CE2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B03971-8500-3D79-06BF-E70FE7695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37</a:t>
            </a:fld>
            <a:endParaRPr lang="en-US" noProof="0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423CEB8-26DD-F8C7-5CCC-CD859ABCCA64}"/>
              </a:ext>
            </a:extLst>
          </p:cNvPr>
          <p:cNvSpPr/>
          <p:nvPr/>
        </p:nvSpPr>
        <p:spPr>
          <a:xfrm>
            <a:off x="1492841" y="1647964"/>
            <a:ext cx="1112471" cy="1095236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6" name="Rectangle 5" descr="Single gear">
            <a:extLst>
              <a:ext uri="{FF2B5EF4-FFF2-40B4-BE49-F238E27FC236}">
                <a16:creationId xmlns:a16="http://schemas.microsoft.com/office/drawing/2014/main" id="{BE65672C-B1D1-9560-3565-1839D302B54C}"/>
              </a:ext>
            </a:extLst>
          </p:cNvPr>
          <p:cNvSpPr/>
          <p:nvPr/>
        </p:nvSpPr>
        <p:spPr>
          <a:xfrm>
            <a:off x="1683656" y="1807028"/>
            <a:ext cx="732971" cy="732972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903314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C7E65-3CA0-DB67-AB6F-F5C35E023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7E9191-E743-AC8A-1426-4D0BDCCB2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6438" y="1088660"/>
            <a:ext cx="6619243" cy="1436735"/>
          </a:xfrm>
        </p:spPr>
        <p:txBody>
          <a:bodyPr/>
          <a:lstStyle/>
          <a:p>
            <a:r>
              <a:rPr lang="en-US" sz="3200" noProof="0" dirty="0"/>
              <a:t>VPS Configuration</a:t>
            </a:r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60ADC7C-1D02-1C3B-A4A7-40CB1691E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80C4092-3557-D8A1-02F9-E75547AE1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38</a:t>
            </a:fld>
            <a:endParaRPr lang="en-US" noProof="0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BA34CC81-5AEF-107D-379A-002DA0EE69A7}"/>
              </a:ext>
            </a:extLst>
          </p:cNvPr>
          <p:cNvSpPr/>
          <p:nvPr/>
        </p:nvSpPr>
        <p:spPr>
          <a:xfrm>
            <a:off x="1492841" y="1647964"/>
            <a:ext cx="1112471" cy="1095236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6" name="Rectangle 5" descr="Single gear">
            <a:extLst>
              <a:ext uri="{FF2B5EF4-FFF2-40B4-BE49-F238E27FC236}">
                <a16:creationId xmlns:a16="http://schemas.microsoft.com/office/drawing/2014/main" id="{AD2182DB-CDD7-07FC-D16B-46BEFA4527D1}"/>
              </a:ext>
            </a:extLst>
          </p:cNvPr>
          <p:cNvSpPr/>
          <p:nvPr/>
        </p:nvSpPr>
        <p:spPr>
          <a:xfrm>
            <a:off x="1683656" y="1807028"/>
            <a:ext cx="732971" cy="732972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5CB9C7E-0780-8A35-A7D6-07D02CC40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9889"/>
            <a:ext cx="9144000" cy="494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9390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290">
          <a:extLst>
            <a:ext uri="{FF2B5EF4-FFF2-40B4-BE49-F238E27FC236}">
              <a16:creationId xmlns:a16="http://schemas.microsoft.com/office/drawing/2014/main" id="{E933D033-D47D-5406-27F9-1931BB515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Picture 298">
            <a:extLst>
              <a:ext uri="{FF2B5EF4-FFF2-40B4-BE49-F238E27FC236}">
                <a16:creationId xmlns:a16="http://schemas.microsoft.com/office/drawing/2014/main" id="{DB108C82-CA36-C885-36AA-CCFE8C775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318" name="Picture 300">
            <a:extLst>
              <a:ext uri="{FF2B5EF4-FFF2-40B4-BE49-F238E27FC236}">
                <a16:creationId xmlns:a16="http://schemas.microsoft.com/office/drawing/2014/main" id="{0A9FFC8F-4AB0-DA28-316D-F58D0BA3A9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319" name="Oval 302">
            <a:extLst>
              <a:ext uri="{FF2B5EF4-FFF2-40B4-BE49-F238E27FC236}">
                <a16:creationId xmlns:a16="http://schemas.microsoft.com/office/drawing/2014/main" id="{92C792E2-1901-23A3-D870-8F2DD3F56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320" name="Picture 304">
            <a:extLst>
              <a:ext uri="{FF2B5EF4-FFF2-40B4-BE49-F238E27FC236}">
                <a16:creationId xmlns:a16="http://schemas.microsoft.com/office/drawing/2014/main" id="{DF70C95A-2731-5DD8-834E-78E39100F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321" name="Picture 306">
            <a:extLst>
              <a:ext uri="{FF2B5EF4-FFF2-40B4-BE49-F238E27FC236}">
                <a16:creationId xmlns:a16="http://schemas.microsoft.com/office/drawing/2014/main" id="{2C3EC310-D8A9-D97B-B627-3C8BEDD76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322" name="Rectangle 321">
            <a:extLst>
              <a:ext uri="{FF2B5EF4-FFF2-40B4-BE49-F238E27FC236}">
                <a16:creationId xmlns:a16="http://schemas.microsoft.com/office/drawing/2014/main" id="{7F93743B-E9DC-BDDC-6B37-6A9AB47BE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323" name="Freeform 7">
            <a:extLst>
              <a:ext uri="{FF2B5EF4-FFF2-40B4-BE49-F238E27FC236}">
                <a16:creationId xmlns:a16="http://schemas.microsoft.com/office/drawing/2014/main" id="{D4B655AA-655C-FE7D-26D7-D0850D9C8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91" name="Google Shape;291;g409b5cd6d9e_3_117">
            <a:extLst>
              <a:ext uri="{FF2B5EF4-FFF2-40B4-BE49-F238E27FC236}">
                <a16:creationId xmlns:a16="http://schemas.microsoft.com/office/drawing/2014/main" id="{414CE3AC-F200-4DEA-CBCB-CA62E6EDB7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697" y="471950"/>
            <a:ext cx="6939116" cy="76249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ct val="111111"/>
            </a:pPr>
            <a:r>
              <a:rPr lang="en-US" sz="4200" noProof="0" dirty="0"/>
              <a:t>VPS Config : Port</a:t>
            </a:r>
          </a:p>
        </p:txBody>
      </p:sp>
      <p:sp>
        <p:nvSpPr>
          <p:cNvPr id="293" name="Google Shape;293;g409b5cd6d9e_3_117">
            <a:extLst>
              <a:ext uri="{FF2B5EF4-FFF2-40B4-BE49-F238E27FC236}">
                <a16:creationId xmlns:a16="http://schemas.microsoft.com/office/drawing/2014/main" id="{DCD2FE8F-CCCF-E8A6-C368-998A8CA4F4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39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5079A037-B47B-BE24-B777-0A5D39C84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43223"/>
            <a:ext cx="9144313" cy="22002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5" name="Freeform 5">
            <a:extLst>
              <a:ext uri="{FF2B5EF4-FFF2-40B4-BE49-F238E27FC236}">
                <a16:creationId xmlns:a16="http://schemas.microsoft.com/office/drawing/2014/main" id="{6E4C2C19-04C5-DFAC-9AF2-D72FF0A5A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3772" cy="2101850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12CC9CF-1084-74FF-866A-2FD34B3B4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4100" y="1666794"/>
            <a:ext cx="8520600" cy="3339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noProof="0" dirty="0">
                <a:solidFill>
                  <a:schemeClr val="bg1"/>
                </a:solidFill>
              </a:rPr>
              <a:t>Logical Port </a:t>
            </a:r>
            <a:r>
              <a:rPr lang="en-US" noProof="0" dirty="0">
                <a:solidFill>
                  <a:schemeClr val="bg1"/>
                </a:solidFill>
              </a:rPr>
              <a:t>: Door Number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 marL="114300" indent="0">
              <a:buNone/>
            </a:pPr>
            <a:endParaRPr lang="en-US" noProof="0" dirty="0">
              <a:solidFill>
                <a:schemeClr val="bg1"/>
              </a:solidFill>
            </a:endParaRPr>
          </a:p>
          <a:p>
            <a:pPr marL="114300" indent="0">
              <a:buNone/>
            </a:pPr>
            <a:endParaRPr lang="en-US" b="1" noProof="0" dirty="0">
              <a:solidFill>
                <a:schemeClr val="bg1"/>
              </a:solidFill>
            </a:endParaRPr>
          </a:p>
          <a:p>
            <a:pPr marL="114300" indent="0">
              <a:buNone/>
            </a:pPr>
            <a:endParaRPr lang="en-US" b="1" noProof="0" dirty="0">
              <a:solidFill>
                <a:schemeClr val="bg1"/>
              </a:solidFill>
            </a:endParaRPr>
          </a:p>
          <a:p>
            <a:pPr marL="114300" indent="0">
              <a:buNone/>
            </a:pPr>
            <a:endParaRPr lang="en-US" b="1" noProof="0" dirty="0">
              <a:solidFill>
                <a:schemeClr val="bg1"/>
              </a:solidFill>
            </a:endParaRPr>
          </a:p>
          <a:p>
            <a:pPr marL="114300" indent="0" algn="r">
              <a:buNone/>
            </a:pPr>
            <a:r>
              <a:rPr lang="en-US" b="1" noProof="0" dirty="0">
                <a:solidFill>
                  <a:schemeClr val="bg1"/>
                </a:solidFill>
              </a:rPr>
              <a:t>	</a:t>
            </a:r>
            <a:r>
              <a:rPr lang="en-US" b="1" noProof="0" dirty="0" err="1">
                <a:solidFill>
                  <a:schemeClr val="bg1"/>
                </a:solidFill>
              </a:rPr>
              <a:t>Recommandation</a:t>
            </a:r>
            <a:r>
              <a:rPr lang="en-US" b="1" noProof="0" dirty="0">
                <a:solidFill>
                  <a:schemeClr val="bg1"/>
                </a:solidFill>
              </a:rPr>
              <a:t> IANA</a:t>
            </a:r>
            <a:r>
              <a:rPr lang="en-US" noProof="0" dirty="0">
                <a:solidFill>
                  <a:schemeClr val="bg1"/>
                </a:solidFill>
              </a:rPr>
              <a:t> </a:t>
            </a:r>
          </a:p>
          <a:p>
            <a:pPr marL="114300" indent="0" algn="r">
              <a:buNone/>
            </a:pPr>
            <a:r>
              <a:rPr lang="en-US" b="1" i="1" noProof="0" dirty="0">
                <a:solidFill>
                  <a:schemeClr val="bg1"/>
                </a:solidFill>
              </a:rPr>
              <a:t>I</a:t>
            </a:r>
            <a:r>
              <a:rPr lang="en-US" i="1" noProof="0" dirty="0">
                <a:solidFill>
                  <a:schemeClr val="bg1"/>
                </a:solidFill>
              </a:rPr>
              <a:t>nternet </a:t>
            </a:r>
            <a:r>
              <a:rPr lang="en-US" b="1" i="1" noProof="0" dirty="0">
                <a:solidFill>
                  <a:schemeClr val="bg1"/>
                </a:solidFill>
              </a:rPr>
              <a:t>A</a:t>
            </a:r>
            <a:r>
              <a:rPr lang="en-US" i="1" noProof="0" dirty="0">
                <a:solidFill>
                  <a:schemeClr val="bg1"/>
                </a:solidFill>
              </a:rPr>
              <a:t>ssigned </a:t>
            </a:r>
            <a:r>
              <a:rPr lang="en-US" b="1" i="1" noProof="0" dirty="0">
                <a:solidFill>
                  <a:schemeClr val="bg1"/>
                </a:solidFill>
              </a:rPr>
              <a:t>N</a:t>
            </a:r>
            <a:r>
              <a:rPr lang="en-US" i="1" noProof="0" dirty="0">
                <a:solidFill>
                  <a:schemeClr val="bg1"/>
                </a:solidFill>
              </a:rPr>
              <a:t>umbers </a:t>
            </a:r>
            <a:r>
              <a:rPr lang="en-US" b="1" i="1" noProof="0" dirty="0">
                <a:solidFill>
                  <a:schemeClr val="bg1"/>
                </a:solidFill>
              </a:rPr>
              <a:t>A</a:t>
            </a:r>
            <a:r>
              <a:rPr lang="en-US" i="1" noProof="0" dirty="0">
                <a:solidFill>
                  <a:schemeClr val="bg1"/>
                </a:solidFill>
              </a:rPr>
              <a:t>uthority</a:t>
            </a:r>
            <a:r>
              <a:rPr lang="en-US" noProof="0" dirty="0">
                <a:solidFill>
                  <a:schemeClr val="bg1"/>
                </a:solidFill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1FDF726-A76A-DCA2-F0D2-AD995BE8F69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4268"/>
          <a:stretch>
            <a:fillRect/>
          </a:stretch>
        </p:blipFill>
        <p:spPr>
          <a:xfrm>
            <a:off x="1395909" y="1992469"/>
            <a:ext cx="6272529" cy="240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2975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290">
          <a:extLst>
            <a:ext uri="{FF2B5EF4-FFF2-40B4-BE49-F238E27FC236}">
              <a16:creationId xmlns:a16="http://schemas.microsoft.com/office/drawing/2014/main" id="{C04AD968-FCCD-E291-18D3-F9D9F44C7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Picture 298">
            <a:extLst>
              <a:ext uri="{FF2B5EF4-FFF2-40B4-BE49-F238E27FC236}">
                <a16:creationId xmlns:a16="http://schemas.microsoft.com/office/drawing/2014/main" id="{6A38DB78-B7C4-A84D-428D-AFD235A73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318" name="Picture 300">
            <a:extLst>
              <a:ext uri="{FF2B5EF4-FFF2-40B4-BE49-F238E27FC236}">
                <a16:creationId xmlns:a16="http://schemas.microsoft.com/office/drawing/2014/main" id="{44F0DF29-C14B-5F0D-A928-86374BD10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319" name="Oval 302">
            <a:extLst>
              <a:ext uri="{FF2B5EF4-FFF2-40B4-BE49-F238E27FC236}">
                <a16:creationId xmlns:a16="http://schemas.microsoft.com/office/drawing/2014/main" id="{CB5EBB48-ADCB-9753-3773-F0CEAB204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320" name="Picture 304">
            <a:extLst>
              <a:ext uri="{FF2B5EF4-FFF2-40B4-BE49-F238E27FC236}">
                <a16:creationId xmlns:a16="http://schemas.microsoft.com/office/drawing/2014/main" id="{D40C1C96-AC7B-70FE-2F56-190DF174C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321" name="Picture 306">
            <a:extLst>
              <a:ext uri="{FF2B5EF4-FFF2-40B4-BE49-F238E27FC236}">
                <a16:creationId xmlns:a16="http://schemas.microsoft.com/office/drawing/2014/main" id="{04EE6B27-3757-34F4-DAA3-329545CAE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322" name="Rectangle 321">
            <a:extLst>
              <a:ext uri="{FF2B5EF4-FFF2-40B4-BE49-F238E27FC236}">
                <a16:creationId xmlns:a16="http://schemas.microsoft.com/office/drawing/2014/main" id="{D5D25397-F99F-47B4-E448-AD497F769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323" name="Freeform 7">
            <a:extLst>
              <a:ext uri="{FF2B5EF4-FFF2-40B4-BE49-F238E27FC236}">
                <a16:creationId xmlns:a16="http://schemas.microsoft.com/office/drawing/2014/main" id="{27FD5E3D-B6CA-8ABD-91DE-323B2C710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91" name="Google Shape;291;g409b5cd6d9e_3_117">
            <a:extLst>
              <a:ext uri="{FF2B5EF4-FFF2-40B4-BE49-F238E27FC236}">
                <a16:creationId xmlns:a16="http://schemas.microsoft.com/office/drawing/2014/main" id="{9A3EF488-1A12-091C-035D-6F85698CFE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697" y="471950"/>
            <a:ext cx="6939116" cy="76249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ct val="111111"/>
            </a:pPr>
            <a:r>
              <a:rPr lang="en-US" sz="4200" noProof="0" dirty="0"/>
              <a:t>VPS Config : Socket</a:t>
            </a:r>
          </a:p>
        </p:txBody>
      </p:sp>
      <p:sp>
        <p:nvSpPr>
          <p:cNvPr id="293" name="Google Shape;293;g409b5cd6d9e_3_117">
            <a:extLst>
              <a:ext uri="{FF2B5EF4-FFF2-40B4-BE49-F238E27FC236}">
                <a16:creationId xmlns:a16="http://schemas.microsoft.com/office/drawing/2014/main" id="{44D7B529-6781-6612-F139-F0450262FC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40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347D8A94-6676-ECBE-91FC-9F0A37BB1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43223"/>
            <a:ext cx="9144313" cy="22002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5" name="Freeform 5">
            <a:extLst>
              <a:ext uri="{FF2B5EF4-FFF2-40B4-BE49-F238E27FC236}">
                <a16:creationId xmlns:a16="http://schemas.microsoft.com/office/drawing/2014/main" id="{CFEB3260-636B-45F9-47C8-A6D03E276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3772" cy="2101850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9952FBF-A32A-62CA-86C8-DC6FADA366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697" y="2169259"/>
            <a:ext cx="4141375" cy="2316128"/>
          </a:xfrm>
          <a:prstGeom prst="rect">
            <a:avLst/>
          </a:prstGeom>
        </p:spPr>
      </p:pic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4FFE4259-F1FB-3450-86CF-6A3B4AF32AA3}"/>
              </a:ext>
            </a:extLst>
          </p:cNvPr>
          <p:cNvSpPr txBox="1">
            <a:spLocks/>
          </p:cNvSpPr>
          <p:nvPr/>
        </p:nvSpPr>
        <p:spPr>
          <a:xfrm>
            <a:off x="4865003" y="1963811"/>
            <a:ext cx="3792300" cy="43177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457200" lvl="0" indent="-3429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Wingdings 3" charset="2"/>
              <a:buChar char="●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914400" lvl="1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○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371600" lvl="2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■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828800" lvl="3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●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286000" lvl="4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○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743200" lvl="5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■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3200400" lvl="6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●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657600" lvl="7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○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4114800" lvl="8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■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114300" indent="0" algn="ctr">
              <a:buNone/>
            </a:pPr>
            <a:r>
              <a:rPr lang="en-US" b="1" noProof="0" dirty="0">
                <a:solidFill>
                  <a:schemeClr val="bg1"/>
                </a:solidFill>
              </a:rPr>
              <a:t>Analogy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3913F5DD-4299-0D96-ADC0-B20E8D8FDF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9559" y="2372475"/>
            <a:ext cx="1767572" cy="261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354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290">
          <a:extLst>
            <a:ext uri="{FF2B5EF4-FFF2-40B4-BE49-F238E27FC236}">
              <a16:creationId xmlns:a16="http://schemas.microsoft.com/office/drawing/2014/main" id="{A6A57FA2-E744-2909-A9A0-AA8390AD4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Picture 298">
            <a:extLst>
              <a:ext uri="{FF2B5EF4-FFF2-40B4-BE49-F238E27FC236}">
                <a16:creationId xmlns:a16="http://schemas.microsoft.com/office/drawing/2014/main" id="{B6B5F239-94E4-B7DB-A624-53DE66138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318" name="Picture 300">
            <a:extLst>
              <a:ext uri="{FF2B5EF4-FFF2-40B4-BE49-F238E27FC236}">
                <a16:creationId xmlns:a16="http://schemas.microsoft.com/office/drawing/2014/main" id="{8B726060-60B9-E975-9178-FEBF0135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319" name="Oval 302">
            <a:extLst>
              <a:ext uri="{FF2B5EF4-FFF2-40B4-BE49-F238E27FC236}">
                <a16:creationId xmlns:a16="http://schemas.microsoft.com/office/drawing/2014/main" id="{655D0420-8F9B-8805-0080-B75DC636F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320" name="Picture 304">
            <a:extLst>
              <a:ext uri="{FF2B5EF4-FFF2-40B4-BE49-F238E27FC236}">
                <a16:creationId xmlns:a16="http://schemas.microsoft.com/office/drawing/2014/main" id="{D95CD412-503C-80A1-10CA-E4183DAE9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321" name="Picture 306">
            <a:extLst>
              <a:ext uri="{FF2B5EF4-FFF2-40B4-BE49-F238E27FC236}">
                <a16:creationId xmlns:a16="http://schemas.microsoft.com/office/drawing/2014/main" id="{9463489B-8164-7994-ED63-3604C7F17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322" name="Rectangle 321">
            <a:extLst>
              <a:ext uri="{FF2B5EF4-FFF2-40B4-BE49-F238E27FC236}">
                <a16:creationId xmlns:a16="http://schemas.microsoft.com/office/drawing/2014/main" id="{B2B15116-4994-8DD3-5A1D-76E12EC61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323" name="Freeform 7">
            <a:extLst>
              <a:ext uri="{FF2B5EF4-FFF2-40B4-BE49-F238E27FC236}">
                <a16:creationId xmlns:a16="http://schemas.microsoft.com/office/drawing/2014/main" id="{68506B2C-4ECA-0C10-D603-4459244EF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91" name="Google Shape;291;g409b5cd6d9e_3_117">
            <a:extLst>
              <a:ext uri="{FF2B5EF4-FFF2-40B4-BE49-F238E27FC236}">
                <a16:creationId xmlns:a16="http://schemas.microsoft.com/office/drawing/2014/main" id="{D776888B-E07F-7D96-8F38-899CD3451D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697" y="471950"/>
            <a:ext cx="6939116" cy="76249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ct val="111111"/>
            </a:pPr>
            <a:r>
              <a:rPr lang="en-US" sz="4200" noProof="0" dirty="0"/>
              <a:t>VPS Config : Proxy</a:t>
            </a:r>
          </a:p>
        </p:txBody>
      </p:sp>
      <p:sp>
        <p:nvSpPr>
          <p:cNvPr id="293" name="Google Shape;293;g409b5cd6d9e_3_117">
            <a:extLst>
              <a:ext uri="{FF2B5EF4-FFF2-40B4-BE49-F238E27FC236}">
                <a16:creationId xmlns:a16="http://schemas.microsoft.com/office/drawing/2014/main" id="{BE475D5E-E4AD-B2C5-F14B-20D25EE5BD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41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95BFB0AA-2A14-330E-F9DD-8F258FDE5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43223"/>
            <a:ext cx="9144313" cy="22002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5" name="Freeform 5">
            <a:extLst>
              <a:ext uri="{FF2B5EF4-FFF2-40B4-BE49-F238E27FC236}">
                <a16:creationId xmlns:a16="http://schemas.microsoft.com/office/drawing/2014/main" id="{DA32B042-194A-2C85-0560-CF68A33A4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3772" cy="2101850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Espace réservé du texte 2">
            <a:extLst>
              <a:ext uri="{FF2B5EF4-FFF2-40B4-BE49-F238E27FC236}">
                <a16:creationId xmlns:a16="http://schemas.microsoft.com/office/drawing/2014/main" id="{22F17104-BFD8-3D49-4AF0-7C939C5BC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809" y="1833916"/>
            <a:ext cx="7251245" cy="300475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en-US" b="1" noProof="0" dirty="0">
              <a:solidFill>
                <a:schemeClr val="bg1"/>
              </a:solidFill>
            </a:endParaRPr>
          </a:p>
          <a:p>
            <a:pPr marL="114300" indent="0" algn="r">
              <a:buNone/>
            </a:pPr>
            <a:endParaRPr lang="en-US" noProof="0" dirty="0">
              <a:solidFill>
                <a:schemeClr val="bg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FF1ADD6-0DAD-8780-6E9C-E237AB5F69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0669" y="1234440"/>
            <a:ext cx="2664653" cy="390905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6E7FFCC-F5EC-48C1-6917-F7B72222404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078"/>
          <a:stretch>
            <a:fillRect/>
          </a:stretch>
        </p:blipFill>
        <p:spPr>
          <a:xfrm>
            <a:off x="4798815" y="1212249"/>
            <a:ext cx="2403244" cy="393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938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290">
          <a:extLst>
            <a:ext uri="{FF2B5EF4-FFF2-40B4-BE49-F238E27FC236}">
              <a16:creationId xmlns:a16="http://schemas.microsoft.com/office/drawing/2014/main" id="{52AD9067-0D34-A32E-EE7F-62FEAE67F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Picture 298">
            <a:extLst>
              <a:ext uri="{FF2B5EF4-FFF2-40B4-BE49-F238E27FC236}">
                <a16:creationId xmlns:a16="http://schemas.microsoft.com/office/drawing/2014/main" id="{8B9D7C80-1C1B-5250-445F-E174D05E1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318" name="Picture 300">
            <a:extLst>
              <a:ext uri="{FF2B5EF4-FFF2-40B4-BE49-F238E27FC236}">
                <a16:creationId xmlns:a16="http://schemas.microsoft.com/office/drawing/2014/main" id="{CB7A8AE6-7DC3-2445-9C5B-7A76C4889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319" name="Oval 302">
            <a:extLst>
              <a:ext uri="{FF2B5EF4-FFF2-40B4-BE49-F238E27FC236}">
                <a16:creationId xmlns:a16="http://schemas.microsoft.com/office/drawing/2014/main" id="{563FE291-DB03-6A51-B4C8-E36E0EEED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320" name="Picture 304">
            <a:extLst>
              <a:ext uri="{FF2B5EF4-FFF2-40B4-BE49-F238E27FC236}">
                <a16:creationId xmlns:a16="http://schemas.microsoft.com/office/drawing/2014/main" id="{90B4CFCA-0DDB-69DB-97A9-F150622A7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321" name="Picture 306">
            <a:extLst>
              <a:ext uri="{FF2B5EF4-FFF2-40B4-BE49-F238E27FC236}">
                <a16:creationId xmlns:a16="http://schemas.microsoft.com/office/drawing/2014/main" id="{66067E13-51B4-E171-D627-0A771EF13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322" name="Rectangle 321">
            <a:extLst>
              <a:ext uri="{FF2B5EF4-FFF2-40B4-BE49-F238E27FC236}">
                <a16:creationId xmlns:a16="http://schemas.microsoft.com/office/drawing/2014/main" id="{319C3792-F626-E546-19B0-5D2D16A89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323" name="Freeform 7">
            <a:extLst>
              <a:ext uri="{FF2B5EF4-FFF2-40B4-BE49-F238E27FC236}">
                <a16:creationId xmlns:a16="http://schemas.microsoft.com/office/drawing/2014/main" id="{0FA270D3-A4D4-400D-A9AD-E3D65B35F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91" name="Google Shape;291;g409b5cd6d9e_3_117">
            <a:extLst>
              <a:ext uri="{FF2B5EF4-FFF2-40B4-BE49-F238E27FC236}">
                <a16:creationId xmlns:a16="http://schemas.microsoft.com/office/drawing/2014/main" id="{0B330DA7-11CC-0C1E-AF51-8138108430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697" y="471950"/>
            <a:ext cx="6939116" cy="76249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 fontScale="90000"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ct val="111111"/>
            </a:pPr>
            <a:r>
              <a:rPr lang="en-US" sz="4200" noProof="0" dirty="0"/>
              <a:t>VPS config : (Forward) Proxy</a:t>
            </a:r>
          </a:p>
        </p:txBody>
      </p:sp>
      <p:sp>
        <p:nvSpPr>
          <p:cNvPr id="293" name="Google Shape;293;g409b5cd6d9e_3_117">
            <a:extLst>
              <a:ext uri="{FF2B5EF4-FFF2-40B4-BE49-F238E27FC236}">
                <a16:creationId xmlns:a16="http://schemas.microsoft.com/office/drawing/2014/main" id="{8E2081AD-0310-B2BA-38B3-4F483EDE5A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42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EB4BD918-1744-2F6E-AF67-8DE671BA2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43223"/>
            <a:ext cx="9144313" cy="22002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5" name="Freeform 5">
            <a:extLst>
              <a:ext uri="{FF2B5EF4-FFF2-40B4-BE49-F238E27FC236}">
                <a16:creationId xmlns:a16="http://schemas.microsoft.com/office/drawing/2014/main" id="{8A5EFCD3-1066-4480-88ED-024154013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3772" cy="2101850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794F0E6-2B56-AF6F-FA13-373CAB3F3F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770" y="1460818"/>
            <a:ext cx="2510341" cy="3682682"/>
          </a:xfrm>
          <a:prstGeom prst="rect">
            <a:avLst/>
          </a:prstGeom>
        </p:spPr>
      </p:pic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3B0F592F-A901-8590-4781-90C885F9C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1531" y="1869472"/>
            <a:ext cx="4094700" cy="3004756"/>
          </a:xfrm>
        </p:spPr>
        <p:txBody>
          <a:bodyPr/>
          <a:lstStyle/>
          <a:p>
            <a:pPr marL="114300" indent="0">
              <a:buNone/>
            </a:pPr>
            <a:r>
              <a:rPr lang="en-US" b="1" noProof="0" dirty="0">
                <a:solidFill>
                  <a:schemeClr val="bg1"/>
                </a:solidFill>
              </a:rPr>
              <a:t>Why ?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noProof="0" dirty="0">
                <a:solidFill>
                  <a:schemeClr val="bg1"/>
                </a:solidFill>
              </a:rPr>
              <a:t>Protects the client’s online identity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noProof="0" dirty="0">
                <a:solidFill>
                  <a:schemeClr val="bg1"/>
                </a:solidFill>
              </a:rPr>
              <a:t>Bypasses browsing restriction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noProof="0" dirty="0">
                <a:solidFill>
                  <a:schemeClr val="bg1"/>
                </a:solidFill>
              </a:rPr>
              <a:t>Blocks access to certain content</a:t>
            </a:r>
          </a:p>
          <a:p>
            <a:pPr marL="114300" indent="0">
              <a:buNone/>
            </a:pPr>
            <a:endParaRPr lang="en-US" b="1" noProof="0" dirty="0">
              <a:solidFill>
                <a:schemeClr val="bg1"/>
              </a:solidFill>
            </a:endParaRPr>
          </a:p>
          <a:p>
            <a:pPr marL="114300" indent="0" algn="r">
              <a:buNone/>
            </a:pPr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3689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290">
          <a:extLst>
            <a:ext uri="{FF2B5EF4-FFF2-40B4-BE49-F238E27FC236}">
              <a16:creationId xmlns:a16="http://schemas.microsoft.com/office/drawing/2014/main" id="{5BD43BC0-F9D6-702E-D304-ED247559F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Picture 298">
            <a:extLst>
              <a:ext uri="{FF2B5EF4-FFF2-40B4-BE49-F238E27FC236}">
                <a16:creationId xmlns:a16="http://schemas.microsoft.com/office/drawing/2014/main" id="{67F37D3F-E8DC-CD7D-4F46-868120BCF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318" name="Picture 300">
            <a:extLst>
              <a:ext uri="{FF2B5EF4-FFF2-40B4-BE49-F238E27FC236}">
                <a16:creationId xmlns:a16="http://schemas.microsoft.com/office/drawing/2014/main" id="{39F266FF-E12E-A492-B02E-98DB94EEA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319" name="Oval 302">
            <a:extLst>
              <a:ext uri="{FF2B5EF4-FFF2-40B4-BE49-F238E27FC236}">
                <a16:creationId xmlns:a16="http://schemas.microsoft.com/office/drawing/2014/main" id="{FDBD86C6-5344-189B-4BAA-F590A0802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320" name="Picture 304">
            <a:extLst>
              <a:ext uri="{FF2B5EF4-FFF2-40B4-BE49-F238E27FC236}">
                <a16:creationId xmlns:a16="http://schemas.microsoft.com/office/drawing/2014/main" id="{0E03521F-3A1D-1EED-03DA-0049BD335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321" name="Picture 306">
            <a:extLst>
              <a:ext uri="{FF2B5EF4-FFF2-40B4-BE49-F238E27FC236}">
                <a16:creationId xmlns:a16="http://schemas.microsoft.com/office/drawing/2014/main" id="{41EE9F31-D791-F680-5D06-CF1311E07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322" name="Rectangle 321">
            <a:extLst>
              <a:ext uri="{FF2B5EF4-FFF2-40B4-BE49-F238E27FC236}">
                <a16:creationId xmlns:a16="http://schemas.microsoft.com/office/drawing/2014/main" id="{46E0287C-C994-E68C-5D97-35756425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323" name="Freeform 7">
            <a:extLst>
              <a:ext uri="{FF2B5EF4-FFF2-40B4-BE49-F238E27FC236}">
                <a16:creationId xmlns:a16="http://schemas.microsoft.com/office/drawing/2014/main" id="{B037FE82-3A4B-DE61-2A6D-93273270B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91" name="Google Shape;291;g409b5cd6d9e_3_117">
            <a:extLst>
              <a:ext uri="{FF2B5EF4-FFF2-40B4-BE49-F238E27FC236}">
                <a16:creationId xmlns:a16="http://schemas.microsoft.com/office/drawing/2014/main" id="{302435AD-2CA3-AD39-6F76-B78396CC64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697" y="471950"/>
            <a:ext cx="6939116" cy="76249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 fontScale="90000"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ct val="111111"/>
            </a:pPr>
            <a:r>
              <a:rPr lang="en-US" sz="4200" noProof="0" dirty="0"/>
              <a:t>VPS Config : Reverse proxy</a:t>
            </a:r>
          </a:p>
        </p:txBody>
      </p:sp>
      <p:sp>
        <p:nvSpPr>
          <p:cNvPr id="293" name="Google Shape;293;g409b5cd6d9e_3_117">
            <a:extLst>
              <a:ext uri="{FF2B5EF4-FFF2-40B4-BE49-F238E27FC236}">
                <a16:creationId xmlns:a16="http://schemas.microsoft.com/office/drawing/2014/main" id="{2784BAEB-4E25-B380-D583-26AE485883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43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F6751E99-01FB-9D44-2D38-99DA92243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43223"/>
            <a:ext cx="9144313" cy="22002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5" name="Freeform 5">
            <a:extLst>
              <a:ext uri="{FF2B5EF4-FFF2-40B4-BE49-F238E27FC236}">
                <a16:creationId xmlns:a16="http://schemas.microsoft.com/office/drawing/2014/main" id="{9918F3AC-9934-DBD1-7E39-B97093DF7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3772" cy="2101850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Espace réservé du texte 2">
            <a:extLst>
              <a:ext uri="{FF2B5EF4-FFF2-40B4-BE49-F238E27FC236}">
                <a16:creationId xmlns:a16="http://schemas.microsoft.com/office/drawing/2014/main" id="{4948E1FA-6AF2-391A-8709-D8643EBB4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8354" y="1833916"/>
            <a:ext cx="4094700" cy="3004756"/>
          </a:xfrm>
        </p:spPr>
        <p:txBody>
          <a:bodyPr/>
          <a:lstStyle/>
          <a:p>
            <a:pPr marL="114300" indent="0">
              <a:buNone/>
            </a:pPr>
            <a:r>
              <a:rPr lang="en-US" b="1" noProof="0" dirty="0">
                <a:solidFill>
                  <a:schemeClr val="bg1"/>
                </a:solidFill>
              </a:rPr>
              <a:t>Why ?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noProof="0" dirty="0">
                <a:solidFill>
                  <a:schemeClr val="bg1"/>
                </a:solidFill>
              </a:rPr>
              <a:t>Protects a web site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noProof="0" dirty="0">
                <a:solidFill>
                  <a:schemeClr val="bg1"/>
                </a:solidFill>
              </a:rPr>
              <a:t>Load balancing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noProof="0" dirty="0">
                <a:solidFill>
                  <a:schemeClr val="bg1"/>
                </a:solidFill>
              </a:rPr>
              <a:t>Caching</a:t>
            </a:r>
          </a:p>
          <a:p>
            <a:pPr marL="114300" indent="0">
              <a:buNone/>
            </a:pPr>
            <a:endParaRPr lang="en-US" b="1" noProof="0" dirty="0">
              <a:solidFill>
                <a:schemeClr val="bg1"/>
              </a:solidFill>
            </a:endParaRPr>
          </a:p>
          <a:p>
            <a:pPr marL="114300" indent="0" algn="r">
              <a:buNone/>
            </a:pPr>
            <a:endParaRPr lang="en-US" noProof="0" dirty="0">
              <a:solidFill>
                <a:schemeClr val="bg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2CAE258-3F14-F9F7-C4DA-EEEC82F8BE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862" y="1234440"/>
            <a:ext cx="2350081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017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4E092-9FFF-33AA-177D-C4379F91F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A7B2F0-3A53-8269-D397-111960770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DNS Resolver - Theory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EB673C-017B-FBAE-0231-0DEF00610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456B1EE-7D23-01BD-E646-B3098228B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44</a:t>
            </a:fld>
            <a:endParaRPr lang="en-US" sz="2800" noProof="0" dirty="0"/>
          </a:p>
        </p:txBody>
      </p:sp>
      <p:sp>
        <p:nvSpPr>
          <p:cNvPr id="138" name="Google Shape;138;g409b5cd6d9e_3_82">
            <a:extLst>
              <a:ext uri="{FF2B5EF4-FFF2-40B4-BE49-F238E27FC236}">
                <a16:creationId xmlns:a16="http://schemas.microsoft.com/office/drawing/2014/main" id="{FE2BAD4F-7E01-D52A-A5D5-5FFE7B1A1E99}"/>
              </a:ext>
            </a:extLst>
          </p:cNvPr>
          <p:cNvSpPr txBox="1">
            <a:spLocks/>
          </p:cNvSpPr>
          <p:nvPr/>
        </p:nvSpPr>
        <p:spPr>
          <a:xfrm>
            <a:off x="189504" y="111207"/>
            <a:ext cx="7421100" cy="785700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  <p:sp>
        <p:nvSpPr>
          <p:cNvPr id="5" name="Google Shape;136;g409b5cd6d9e_3_82">
            <a:extLst>
              <a:ext uri="{FF2B5EF4-FFF2-40B4-BE49-F238E27FC236}">
                <a16:creationId xmlns:a16="http://schemas.microsoft.com/office/drawing/2014/main" id="{3FA5F3E4-1CB6-A615-065A-DFA874C77730}"/>
              </a:ext>
            </a:extLst>
          </p:cNvPr>
          <p:cNvSpPr txBox="1">
            <a:spLocks/>
          </p:cNvSpPr>
          <p:nvPr/>
        </p:nvSpPr>
        <p:spPr>
          <a:xfrm>
            <a:off x="-5125" y="995400"/>
            <a:ext cx="9144000" cy="4148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r>
              <a:rPr lang="en-US" noProof="0" dirty="0"/>
              <a:t> </a:t>
            </a:r>
            <a:r>
              <a:rPr lang="en-US" sz="2800" noProof="0" dirty="0">
                <a:solidFill>
                  <a:srgbClr val="6AA84F"/>
                </a:solidFill>
              </a:rPr>
              <a:t>$ </a:t>
            </a:r>
            <a:r>
              <a:rPr lang="en-US" sz="2400" b="1" noProof="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sudo</a:t>
            </a:r>
            <a:r>
              <a:rPr lang="en-US" sz="2400" b="1" noProof="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iptables -L -n -v --line-numbers</a:t>
            </a:r>
            <a:endParaRPr lang="en-US" sz="1350" b="1" noProof="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noProof="0" dirty="0"/>
          </a:p>
        </p:txBody>
      </p:sp>
      <p:pic>
        <p:nvPicPr>
          <p:cNvPr id="7" name="Google Shape;301;g409b5cd6d9e_3_95" title="vps_iptables_command-output.png">
            <a:extLst>
              <a:ext uri="{FF2B5EF4-FFF2-40B4-BE49-F238E27FC236}">
                <a16:creationId xmlns:a16="http://schemas.microsoft.com/office/drawing/2014/main" id="{2A05B80B-2035-C9FD-35B6-F2ADEBD8D18D}"/>
              </a:ext>
            </a:extLst>
          </p:cNvPr>
          <p:cNvPicPr preferRelativeResize="0"/>
          <p:nvPr/>
        </p:nvPicPr>
        <p:blipFill rotWithShape="1">
          <a:blip r:embed="rId2"/>
          <a:srcRect l="532" t="7015" r="2361"/>
          <a:stretch>
            <a:fillRect/>
          </a:stretch>
        </p:blipFill>
        <p:spPr>
          <a:xfrm>
            <a:off x="106612" y="1799346"/>
            <a:ext cx="8920525" cy="223232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015986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EF9A1-08F9-F422-714F-BB55688F5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D640A5-0F09-092F-5DE3-13C20E8DD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DNS Resolver - Theory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C0B348-FF15-C302-68BB-B7B224D58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219C7D-F2B2-9405-181A-F6CCDE0A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45</a:t>
            </a:fld>
            <a:endParaRPr lang="en-US" sz="2800" noProof="0" dirty="0"/>
          </a:p>
        </p:txBody>
      </p:sp>
      <p:sp>
        <p:nvSpPr>
          <p:cNvPr id="138" name="Google Shape;138;g409b5cd6d9e_3_82">
            <a:extLst>
              <a:ext uri="{FF2B5EF4-FFF2-40B4-BE49-F238E27FC236}">
                <a16:creationId xmlns:a16="http://schemas.microsoft.com/office/drawing/2014/main" id="{FE42827E-5750-DFC4-0C84-27B79324626A}"/>
              </a:ext>
            </a:extLst>
          </p:cNvPr>
          <p:cNvSpPr txBox="1">
            <a:spLocks/>
          </p:cNvSpPr>
          <p:nvPr/>
        </p:nvSpPr>
        <p:spPr>
          <a:xfrm>
            <a:off x="189504" y="111207"/>
            <a:ext cx="7421100" cy="785700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  <p:sp>
        <p:nvSpPr>
          <p:cNvPr id="5" name="Google Shape;136;g409b5cd6d9e_3_82">
            <a:extLst>
              <a:ext uri="{FF2B5EF4-FFF2-40B4-BE49-F238E27FC236}">
                <a16:creationId xmlns:a16="http://schemas.microsoft.com/office/drawing/2014/main" id="{1543F8BF-E061-7B55-92F8-7A817B387737}"/>
              </a:ext>
            </a:extLst>
          </p:cNvPr>
          <p:cNvSpPr txBox="1">
            <a:spLocks/>
          </p:cNvSpPr>
          <p:nvPr/>
        </p:nvSpPr>
        <p:spPr>
          <a:xfrm>
            <a:off x="-5125" y="995400"/>
            <a:ext cx="9144000" cy="4148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r>
              <a:rPr lang="en-US" noProof="0" dirty="0"/>
              <a:t> </a:t>
            </a:r>
            <a:r>
              <a:rPr lang="en-US" sz="2800" noProof="0" dirty="0">
                <a:solidFill>
                  <a:srgbClr val="6AA84F"/>
                </a:solidFill>
              </a:rPr>
              <a:t>$ </a:t>
            </a:r>
            <a:r>
              <a:rPr lang="en-US" sz="2400" b="1" noProof="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sudo</a:t>
            </a:r>
            <a:r>
              <a:rPr lang="en-US" sz="2400" b="1" noProof="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cat /</a:t>
            </a:r>
            <a:r>
              <a:rPr lang="en-US" sz="2400" b="1" noProof="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etc</a:t>
            </a:r>
            <a:r>
              <a:rPr lang="en-US" sz="2400" b="1" noProof="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/iptables/rules.v4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sz="1350" b="1" noProof="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noProof="0" dirty="0"/>
          </a:p>
        </p:txBody>
      </p:sp>
      <p:pic>
        <p:nvPicPr>
          <p:cNvPr id="8" name="Google Shape;309;g409b5cd6d9e_3_102" title="vps_iptables-persisted-rules.png">
            <a:extLst>
              <a:ext uri="{FF2B5EF4-FFF2-40B4-BE49-F238E27FC236}">
                <a16:creationId xmlns:a16="http://schemas.microsoft.com/office/drawing/2014/main" id="{AF6EAC3F-6EC0-3B43-2D2D-BF5A2FB78769}"/>
              </a:ext>
            </a:extLst>
          </p:cNvPr>
          <p:cNvPicPr preferRelativeResize="0"/>
          <p:nvPr/>
        </p:nvPicPr>
        <p:blipFill rotWithShape="1">
          <a:blip r:embed="rId2"/>
          <a:srcRect l="530" t="8255" r="34345" b="2"/>
          <a:stretch>
            <a:fillRect/>
          </a:stretch>
        </p:blipFill>
        <p:spPr>
          <a:xfrm>
            <a:off x="285750" y="1829962"/>
            <a:ext cx="7143750" cy="2716638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332440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9E1F9-E035-B7D4-27A4-17CCADBDF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4A136A-8665-D87A-BC22-E62C98D15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DNS Resolver - Theory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C0DE4F-EA56-041A-2210-1F572CA9C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46</a:t>
            </a:fld>
            <a:endParaRPr lang="en-US" sz="2800" noProof="0" dirty="0"/>
          </a:p>
        </p:txBody>
      </p:sp>
      <p:sp>
        <p:nvSpPr>
          <p:cNvPr id="138" name="Google Shape;138;g409b5cd6d9e_3_82">
            <a:extLst>
              <a:ext uri="{FF2B5EF4-FFF2-40B4-BE49-F238E27FC236}">
                <a16:creationId xmlns:a16="http://schemas.microsoft.com/office/drawing/2014/main" id="{3D96F619-2469-0427-7912-3072F17067C6}"/>
              </a:ext>
            </a:extLst>
          </p:cNvPr>
          <p:cNvSpPr txBox="1">
            <a:spLocks/>
          </p:cNvSpPr>
          <p:nvPr/>
        </p:nvSpPr>
        <p:spPr>
          <a:xfrm>
            <a:off x="189504" y="111207"/>
            <a:ext cx="7421100" cy="785700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  <p:sp>
        <p:nvSpPr>
          <p:cNvPr id="5" name="Google Shape;136;g409b5cd6d9e_3_82">
            <a:extLst>
              <a:ext uri="{FF2B5EF4-FFF2-40B4-BE49-F238E27FC236}">
                <a16:creationId xmlns:a16="http://schemas.microsoft.com/office/drawing/2014/main" id="{FB41426C-BDA0-2C77-9ED4-6EB80FDE7A9D}"/>
              </a:ext>
            </a:extLst>
          </p:cNvPr>
          <p:cNvSpPr txBox="1">
            <a:spLocks/>
          </p:cNvSpPr>
          <p:nvPr/>
        </p:nvSpPr>
        <p:spPr>
          <a:xfrm>
            <a:off x="583104" y="1339850"/>
            <a:ext cx="7809951" cy="3127038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spcBef>
                <a:spcPts val="0"/>
              </a:spcBef>
              <a:buSzPts val="1800"/>
              <a:buNone/>
            </a:pPr>
            <a:r>
              <a:rPr lang="en-US" noProof="0" dirty="0"/>
              <a:t> </a:t>
            </a:r>
            <a:r>
              <a:rPr lang="en-US" sz="2800" noProof="0" dirty="0">
                <a:solidFill>
                  <a:srgbClr val="6AA84F"/>
                </a:solidFill>
              </a:rPr>
              <a:t>$  </a:t>
            </a:r>
            <a:r>
              <a:rPr lang="en-US" sz="4000" noProof="0" dirty="0"/>
              <a:t>ss -ltnp</a:t>
            </a:r>
            <a:endParaRPr lang="en-US" sz="4000" b="1" noProof="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836425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C0065-9C47-56B3-77F6-F5B50D1AA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24B6D4-87B9-AA87-8FAD-153AAFCC0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DNS Resolver - Theory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1FD1E1-E2E4-6ED6-B3BF-39A368BD0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F3DEF3-8468-4716-81AE-3E556D720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47</a:t>
            </a:fld>
            <a:endParaRPr lang="en-US" sz="2800" noProof="0" dirty="0"/>
          </a:p>
        </p:txBody>
      </p:sp>
      <p:sp>
        <p:nvSpPr>
          <p:cNvPr id="138" name="Google Shape;138;g409b5cd6d9e_3_82">
            <a:extLst>
              <a:ext uri="{FF2B5EF4-FFF2-40B4-BE49-F238E27FC236}">
                <a16:creationId xmlns:a16="http://schemas.microsoft.com/office/drawing/2014/main" id="{D181FFDB-2FBA-5A2D-760F-BBA6B2A4B559}"/>
              </a:ext>
            </a:extLst>
          </p:cNvPr>
          <p:cNvSpPr txBox="1">
            <a:spLocks/>
          </p:cNvSpPr>
          <p:nvPr/>
        </p:nvSpPr>
        <p:spPr>
          <a:xfrm>
            <a:off x="189504" y="111207"/>
            <a:ext cx="7421100" cy="785700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  <p:sp>
        <p:nvSpPr>
          <p:cNvPr id="5" name="Google Shape;136;g409b5cd6d9e_3_82">
            <a:extLst>
              <a:ext uri="{FF2B5EF4-FFF2-40B4-BE49-F238E27FC236}">
                <a16:creationId xmlns:a16="http://schemas.microsoft.com/office/drawing/2014/main" id="{D900A200-AF9A-8113-5855-102212577AA8}"/>
              </a:ext>
            </a:extLst>
          </p:cNvPr>
          <p:cNvSpPr txBox="1">
            <a:spLocks/>
          </p:cNvSpPr>
          <p:nvPr/>
        </p:nvSpPr>
        <p:spPr>
          <a:xfrm>
            <a:off x="171946" y="1025893"/>
            <a:ext cx="8606742" cy="3728853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spcBef>
                <a:spcPts val="0"/>
              </a:spcBef>
              <a:buSzPts val="1800"/>
              <a:buNone/>
            </a:pPr>
            <a:r>
              <a:rPr lang="en-US" noProof="0" dirty="0"/>
              <a:t> </a:t>
            </a:r>
            <a:r>
              <a:rPr lang="en-US" sz="2800" noProof="0" dirty="0">
                <a:solidFill>
                  <a:srgbClr val="6AA84F"/>
                </a:solidFill>
              </a:rPr>
              <a:t>$ </a:t>
            </a:r>
            <a:r>
              <a:rPr lang="en-US" sz="2400" noProof="0" dirty="0"/>
              <a:t>ss -ltnp</a:t>
            </a:r>
            <a:endParaRPr lang="en-US" sz="1350" b="1" noProof="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noProof="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47F0135-F3B4-C985-A84E-EBF0A1AFA8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21"/>
          <a:stretch>
            <a:fillRect/>
          </a:stretch>
        </p:blipFill>
        <p:spPr>
          <a:xfrm>
            <a:off x="171946" y="1707103"/>
            <a:ext cx="8606743" cy="304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6645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409b5cd6d9e_3_1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noProof="0" dirty="0"/>
              <a:t>Ports : Practice</a:t>
            </a:r>
          </a:p>
        </p:txBody>
      </p:sp>
      <p:sp>
        <p:nvSpPr>
          <p:cNvPr id="280" name="Google Shape;280;g409b5cd6d9e_3_13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noProof="0" dirty="0" err="1"/>
              <a:t>nmap</a:t>
            </a:r>
            <a:r>
              <a:rPr lang="en-US" noProof="0" dirty="0"/>
              <a:t> ?</a:t>
            </a:r>
          </a:p>
        </p:txBody>
      </p:sp>
      <p:sp>
        <p:nvSpPr>
          <p:cNvPr id="281" name="Google Shape;281;g409b5cd6d9e_3_1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noProof="0" smtClean="0"/>
              <a:t>48</a:t>
            </a:fld>
            <a:endParaRPr lang="en-US" noProof="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8361A-3EE0-A00F-4EC6-AFBE56D36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19DAE5-939D-A012-6947-50F6E56A1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DNS Resolver - Theory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76483C-1B93-F3E7-0F54-C22D4DE79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873633E-CEFB-C30B-E3AC-B9272B3F7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49</a:t>
            </a:fld>
            <a:endParaRPr lang="en-US" noProof="0" dirty="0"/>
          </a:p>
        </p:txBody>
      </p:sp>
      <p:sp>
        <p:nvSpPr>
          <p:cNvPr id="138" name="Google Shape;138;g409b5cd6d9e_3_82">
            <a:extLst>
              <a:ext uri="{FF2B5EF4-FFF2-40B4-BE49-F238E27FC236}">
                <a16:creationId xmlns:a16="http://schemas.microsoft.com/office/drawing/2014/main" id="{9802AAFB-008F-8FFD-9FA0-F5468D3EF721}"/>
              </a:ext>
            </a:extLst>
          </p:cNvPr>
          <p:cNvSpPr txBox="1">
            <a:spLocks/>
          </p:cNvSpPr>
          <p:nvPr/>
        </p:nvSpPr>
        <p:spPr>
          <a:xfrm>
            <a:off x="189504" y="111207"/>
            <a:ext cx="7421100" cy="785700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Workshop : port 443 closed</a:t>
            </a:r>
          </a:p>
        </p:txBody>
      </p:sp>
      <p:sp>
        <p:nvSpPr>
          <p:cNvPr id="5" name="Google Shape;136;g409b5cd6d9e_3_82">
            <a:extLst>
              <a:ext uri="{FF2B5EF4-FFF2-40B4-BE49-F238E27FC236}">
                <a16:creationId xmlns:a16="http://schemas.microsoft.com/office/drawing/2014/main" id="{CD977D51-7802-36E3-9E06-4582993DEB10}"/>
              </a:ext>
            </a:extLst>
          </p:cNvPr>
          <p:cNvSpPr txBox="1">
            <a:spLocks/>
          </p:cNvSpPr>
          <p:nvPr/>
        </p:nvSpPr>
        <p:spPr>
          <a:xfrm>
            <a:off x="-5125" y="995400"/>
            <a:ext cx="9144000" cy="4148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r>
              <a:rPr lang="en-US" noProof="0" dirty="0"/>
              <a:t> </a:t>
            </a:r>
            <a:r>
              <a:rPr lang="en-US" sz="2800" noProof="0" dirty="0">
                <a:solidFill>
                  <a:srgbClr val="6AA84F"/>
                </a:solidFill>
              </a:rPr>
              <a:t>$</a:t>
            </a:r>
            <a:endParaRPr lang="en-US" sz="1350" b="1" noProof="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055910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73113EFB-9D07-E78C-7232-7FE2E8904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Questions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7C887EA-1572-8FD5-829E-BCC1EFA46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911C562-5DF2-B5EE-E39E-A32962A76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50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321319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E594AF-7F9E-83F7-08E4-7EB90E03F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Ressources</a:t>
            </a:r>
            <a:endParaRPr lang="en-US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C64862-86CA-7CE2-EA62-A1E43FBBA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3079EF2-DAE8-40F9-D177-1F5DD2D88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51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222130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Ion">
    <a:dk1>
      <a:sysClr val="windowText" lastClr="000000"/>
    </a:dk1>
    <a:lt1>
      <a:sysClr val="window" lastClr="FFFFFF"/>
    </a:lt1>
    <a:dk2>
      <a:srgbClr val="0E5580"/>
    </a:dk2>
    <a:lt2>
      <a:srgbClr val="EBEBEB"/>
    </a:lt2>
    <a:accent1>
      <a:srgbClr val="ACD433"/>
    </a:accent1>
    <a:accent2>
      <a:srgbClr val="E6C133"/>
    </a:accent2>
    <a:accent3>
      <a:srgbClr val="EF7A24"/>
    </a:accent3>
    <a:accent4>
      <a:srgbClr val="5AA0F5"/>
    </a:accent4>
    <a:accent5>
      <a:srgbClr val="75CEEC"/>
    </a:accent5>
    <a:accent6>
      <a:srgbClr val="65D6A0"/>
    </a:accent6>
    <a:hlink>
      <a:srgbClr val="C4E46E"/>
    </a:hlink>
    <a:folHlink>
      <a:srgbClr val="BDE0F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1210</TotalTime>
  <Words>779</Words>
  <Application>Microsoft Office PowerPoint</Application>
  <PresentationFormat>Affichage à l'écran (16:9)</PresentationFormat>
  <Paragraphs>250</Paragraphs>
  <Slides>51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51</vt:i4>
      </vt:variant>
    </vt:vector>
  </HeadingPairs>
  <TitlesOfParts>
    <vt:vector size="61" baseType="lpstr">
      <vt:lpstr>Consolas</vt:lpstr>
      <vt:lpstr>Wingdings</vt:lpstr>
      <vt:lpstr>Wingdings 3</vt:lpstr>
      <vt:lpstr>Courier New</vt:lpstr>
      <vt:lpstr>Trebuchet MS</vt:lpstr>
      <vt:lpstr>Noto Sans Symbols</vt:lpstr>
      <vt:lpstr>Arial</vt:lpstr>
      <vt:lpstr>Roboto</vt:lpstr>
      <vt:lpstr>Century Gothic</vt:lpstr>
      <vt:lpstr>Ion</vt:lpstr>
      <vt:lpstr>THE JOURNEY TO THE VPS</vt:lpstr>
      <vt:lpstr>Introduction</vt:lpstr>
      <vt:lpstr>Summary schema</vt:lpstr>
      <vt:lpstr>Présentation PowerPoint</vt:lpstr>
      <vt:lpstr>Summary</vt:lpstr>
      <vt:lpstr>Présentation PowerPoint</vt:lpstr>
      <vt:lpstr>1. DNS Resolver</vt:lpstr>
      <vt:lpstr>DNS Resolver Step</vt:lpstr>
      <vt:lpstr>DNS Resolver - Theory</vt:lpstr>
      <vt:lpstr>DNS Resolver - Theory</vt:lpstr>
      <vt:lpstr>DNS Resolver - Cache</vt:lpstr>
      <vt:lpstr>2. DNS Recording</vt:lpstr>
      <vt:lpstr>DNS Recording</vt:lpstr>
      <vt:lpstr>DNS Recording : Type of Records</vt:lpstr>
      <vt:lpstr>DNS Recording : Host records</vt:lpstr>
      <vt:lpstr>DNS Recording : TTL</vt:lpstr>
      <vt:lpstr>Hands-on case study</vt:lpstr>
      <vt:lpstr>3. Internet Routing</vt:lpstr>
      <vt:lpstr>Internet Routing</vt:lpstr>
      <vt:lpstr>Internet Routing : Theory</vt:lpstr>
      <vt:lpstr>Internet Routing : Theory</vt:lpstr>
      <vt:lpstr>Internet Routing : Theory</vt:lpstr>
      <vt:lpstr>Internet Routing : Routing table</vt:lpstr>
      <vt:lpstr>Hands-on case study</vt:lpstr>
      <vt:lpstr>4. Host Infrastructure</vt:lpstr>
      <vt:lpstr>Présentation PowerPoint</vt:lpstr>
      <vt:lpstr>Host Infrastructure : Why ?</vt:lpstr>
      <vt:lpstr>What is a DDoS attack ?</vt:lpstr>
      <vt:lpstr>Types of DDoS Attacks</vt:lpstr>
      <vt:lpstr>DDoS Mitigation</vt:lpstr>
      <vt:lpstr>Hands-on case study</vt:lpstr>
      <vt:lpstr>Hands-on case study</vt:lpstr>
      <vt:lpstr>Host Infra : Security</vt:lpstr>
      <vt:lpstr>Host Infra : Backbone routers</vt:lpstr>
      <vt:lpstr>Host Infra : Edge Firewall</vt:lpstr>
      <vt:lpstr>Host Infra : Datacenter routers</vt:lpstr>
      <vt:lpstr>5. VPS Configuration</vt:lpstr>
      <vt:lpstr>VPS Configuration</vt:lpstr>
      <vt:lpstr>VPS Config : Port</vt:lpstr>
      <vt:lpstr>VPS Config : Socket</vt:lpstr>
      <vt:lpstr>VPS Config : Proxy</vt:lpstr>
      <vt:lpstr>VPS config : (Forward) Proxy</vt:lpstr>
      <vt:lpstr>VPS Config : Reverse proxy</vt:lpstr>
      <vt:lpstr>DNS Resolver - Theory</vt:lpstr>
      <vt:lpstr>DNS Resolver - Theory</vt:lpstr>
      <vt:lpstr>DNS Resolver - Theory</vt:lpstr>
      <vt:lpstr>DNS Resolver - Theory</vt:lpstr>
      <vt:lpstr>Ports : Practice</vt:lpstr>
      <vt:lpstr>DNS Resolver - Theory</vt:lpstr>
      <vt:lpstr>Questions</vt:lpstr>
      <vt:lpstr>Ressources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Raphael LOSSEC</dc:creator>
  <cp:lastModifiedBy>Raphael LOSSEC</cp:lastModifiedBy>
  <cp:revision>16</cp:revision>
  <dcterms:modified xsi:type="dcterms:W3CDTF">2026-09-07T19:49:59Z</dcterms:modified>
</cp:coreProperties>
</file>